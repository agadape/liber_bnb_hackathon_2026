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19673099544082" /><Relationship Type="http://schemas.openxmlformats.org/officeDocument/2006/relationships/extended-properties" Target="/docProps/app.xml" Id="Ra248313549044810" /><Relationship Type="http://schemas.openxmlformats.org/officeDocument/2006/relationships/officeDocument" Target="/ppt/presentation.xml" Id="Rd0d293d5bb5c4660" /></Relationships>
</file>

<file path=ppt/presentation.xml><?xml version="1.0" encoding="utf-8"?>
<p:presentation xmlns:p="http://schemas.openxmlformats.org/presentationml/2006/main">
  <p:sldMasterIdLst>
    <p:sldMasterId xmlns:r="http://schemas.openxmlformats.org/officeDocument/2006/relationships" id="2147483648" r:id="Rb32310f7d9434f1f"/>
  </p:sldMasterIdLst>
  <p:notesMasterIdLst>
    <p:notesMasterId xmlns:r="http://schemas.openxmlformats.org/officeDocument/2006/relationships" r:id="Re9de56175d2e43d3"/>
  </p:notesMasterIdLst>
  <p:sldIdLst>
    <p:sldId xmlns:r="http://schemas.openxmlformats.org/officeDocument/2006/relationships" id="256" r:id="Rc8c8215df3d747c9"/>
    <p:sldId xmlns:r="http://schemas.openxmlformats.org/officeDocument/2006/relationships" id="257" r:id="Rba69ff64308d4c46"/>
    <p:sldId xmlns:r="http://schemas.openxmlformats.org/officeDocument/2006/relationships" id="258" r:id="R978478f4833f47ba"/>
    <p:sldId xmlns:r="http://schemas.openxmlformats.org/officeDocument/2006/relationships" id="259" r:id="Re5a1036f1d8e4695"/>
    <p:sldId xmlns:r="http://schemas.openxmlformats.org/officeDocument/2006/relationships" id="260" r:id="R4e1a40e89b304b21"/>
    <p:sldId xmlns:r="http://schemas.openxmlformats.org/officeDocument/2006/relationships" id="261" r:id="Ra4544b4ab6e246b7"/>
    <p:sldId xmlns:r="http://schemas.openxmlformats.org/officeDocument/2006/relationships" id="262" r:id="R48712c2782854123"/>
    <p:sldId xmlns:r="http://schemas.openxmlformats.org/officeDocument/2006/relationships" id="263" r:id="Ra0777f0c9cef4550"/>
    <p:sldId xmlns:r="http://schemas.openxmlformats.org/officeDocument/2006/relationships" id="264" r:id="Rfdf5267336214eff"/>
    <p:sldId xmlns:r="http://schemas.openxmlformats.org/officeDocument/2006/relationships" id="265" r:id="Rc740dc474eed42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39866483564fdd" /><Relationship Type="http://schemas.openxmlformats.org/officeDocument/2006/relationships/slideMaster" Target="/ppt/slideMasters/slideMaster1.xml" Id="Rb32310f7d9434f1f" /><Relationship Type="http://schemas.openxmlformats.org/officeDocument/2006/relationships/notesMaster" Target="/ppt/notesMasters/notesMaster1.xml" Id="Re9de56175d2e43d3" /><Relationship Type="http://schemas.openxmlformats.org/officeDocument/2006/relationships/presProps" Target="/ppt/presProps.xml" Id="R144727eadad54267" /><Relationship Type="http://schemas.openxmlformats.org/officeDocument/2006/relationships/tableStyles" Target="/ppt/tableStyles.xml" Id="R0cd47e98f4184d81" /><Relationship Type="http://schemas.openxmlformats.org/officeDocument/2006/relationships/slide" Target="/ppt/slides/slide1.xml" Id="Rc8c8215df3d747c9" /><Relationship Type="http://schemas.openxmlformats.org/officeDocument/2006/relationships/slide" Target="/ppt/slides/slide2.xml" Id="Rba69ff64308d4c46" /><Relationship Type="http://schemas.openxmlformats.org/officeDocument/2006/relationships/slide" Target="/ppt/slides/slide3.xml" Id="R978478f4833f47ba" /><Relationship Type="http://schemas.openxmlformats.org/officeDocument/2006/relationships/slide" Target="/ppt/slides/slide4.xml" Id="Re5a1036f1d8e4695" /><Relationship Type="http://schemas.openxmlformats.org/officeDocument/2006/relationships/slide" Target="/ppt/slides/slide5.xml" Id="R4e1a40e89b304b21" /><Relationship Type="http://schemas.openxmlformats.org/officeDocument/2006/relationships/slide" Target="/ppt/slides/slide6.xml" Id="Ra4544b4ab6e246b7" /><Relationship Type="http://schemas.openxmlformats.org/officeDocument/2006/relationships/slide" Target="/ppt/slides/slide7.xml" Id="R48712c2782854123" /><Relationship Type="http://schemas.openxmlformats.org/officeDocument/2006/relationships/slide" Target="/ppt/slides/slide8.xml" Id="Ra0777f0c9cef4550" /><Relationship Type="http://schemas.openxmlformats.org/officeDocument/2006/relationships/slide" Target="/ppt/slides/slide9.xml" Id="Rfdf5267336214eff" /><Relationship Type="http://schemas.openxmlformats.org/officeDocument/2006/relationships/slide" Target="/ppt/slides/slide10.xml" Id="Rc740dc474eed42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ce74d01d844b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55e360d3f34f0d" /><Relationship Type="http://schemas.openxmlformats.org/officeDocument/2006/relationships/notesMaster" Target="/ppt/notesMasters/notesMaster1.xml" Id="R4cffc106758b4a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64c94587fc4835" /><Relationship Type="http://schemas.openxmlformats.org/officeDocument/2006/relationships/notesMaster" Target="/ppt/notesMasters/notesMaster1.xml" Id="Rd537f49939684d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247838fff8437d" /><Relationship Type="http://schemas.openxmlformats.org/officeDocument/2006/relationships/notesMaster" Target="/ppt/notesMasters/notesMaster1.xml" Id="R8cbbbc8b0cd54f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e46c34181d40b0" /><Relationship Type="http://schemas.openxmlformats.org/officeDocument/2006/relationships/notesMaster" Target="/ppt/notesMasters/notesMaster1.xml" Id="R4c19c79cb9394b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2344222b654b6c" /><Relationship Type="http://schemas.openxmlformats.org/officeDocument/2006/relationships/notesMaster" Target="/ppt/notesMasters/notesMaster1.xml" Id="Rfeb65449caf14b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8fd7227db14380" /><Relationship Type="http://schemas.openxmlformats.org/officeDocument/2006/relationships/notesMaster" Target="/ppt/notesMasters/notesMaster1.xml" Id="R386555be025b47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5803cf4bdc4dda" /><Relationship Type="http://schemas.openxmlformats.org/officeDocument/2006/relationships/notesMaster" Target="/ppt/notesMasters/notesMaster1.xml" Id="R2ff49ac5a2af4d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693bbda82e459e" /><Relationship Type="http://schemas.openxmlformats.org/officeDocument/2006/relationships/notesMaster" Target="/ppt/notesMasters/notesMaster1.xml" Id="R9ffbacd16d434e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d4fceb3fc1441e" /><Relationship Type="http://schemas.openxmlformats.org/officeDocument/2006/relationships/notesMaster" Target="/ppt/notesMasters/notesMaster1.xml" Id="Re032e02e52564f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b50c8554c647ec" /><Relationship Type="http://schemas.openxmlformats.org/officeDocument/2006/relationships/notesMaster" Target="/ppt/notesMasters/notesMaster1.xml" Id="Rae2a287e527d41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Ghost explores payment permissions prepared before a buyer loses device access. This is a BSC Testnet prototype with no cash value. The merchant remains online.</a:t>
            </a:r>
          </a:p>
          <a:p xmlns:a="http://schemas.openxmlformats.org/drawingml/2006/main">
            <a:r>
              <a:t/>
            </a:r>
          </a:p>
          <a:p xmlns:a="http://schemas.openxmlformats.org/drawingml/2006/main">
            <a:r>
              <a:t>Sources:</a:t>
            </a:r>
          </a:p>
          <a:p xmlns:a="http://schemas.openxmlformats.org/drawingml/2006/main">
            <a:r>
              <a:t>https://liber-bnb-web.vercel.app/ghost</a:t>
            </a:r>
          </a:p>
          <a:p xmlns:a="http://schemas.openxmlformats.org/drawingml/2006/main">
            <a:r>
              <a:t>https://github.com/agadape/Liber_BnB_hackathon_2026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scenario, not a customer testimonial: your food is ready as your battery dies. The proposed behavior is to prepare a permission earlier. Physical full-device-off testing is pending.</a:t>
            </a:r>
          </a:p>
          <a:p xmlns:a="http://schemas.openxmlformats.org/drawingml/2006/main">
            <a:r>
              <a:t/>
            </a:r>
          </a:p>
          <a:p xmlns:a="http://schemas.openxmlformats.org/drawingml/2006/main">
            <a:r>
              <a:t>Sources:</a:t>
            </a:r>
          </a:p>
          <a:p xmlns:a="http://schemas.openxmlformats.org/drawingml/2006/main">
            <a:r>
              <a:t>Original team artwork: problem-hook.jpg</a:t>
            </a:r>
          </a:p>
          <a:p xmlns:a="http://schemas.openxmlformats.org/drawingml/2006/main">
            <a:r>
              <a:t>https://github.com/agadape/Liber_BnB_hackathon_2026/blob/main/docs/GHOST-JUDGE-GUIDE.md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Recipient, amount, expiry and one-time use are contract-enforced. This is not a general bearer instrument: an arbitrary merchant cannot redeem. Preparation friction and recipient preselection are trade-offs.</a:t>
            </a:r>
          </a:p>
          <a:p xmlns:a="http://schemas.openxmlformats.org/drawingml/2006/main">
            <a:r>
              <a:t/>
            </a:r>
          </a:p>
          <a:p xmlns:a="http://schemas.openxmlformats.org/drawingml/2006/main">
            <a:r>
              <a:t>Sources:</a:t>
            </a:r>
          </a:p>
          <a:p xmlns:a="http://schemas.openxmlformats.org/drawingml/2006/main">
            <a:r>
              <a:t>https://repo.sourcify.dev/97/0x0837ac35ec54F678ba08912dcfd6166a299FCA31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protocol diagram. Buyer signs EIP-712 authorization and reserves tokens while online. Active signature is excluded from reserve calldata and shared privately. Merchant redeems online with the named wallet and gas. Unused funds may be reclaimed by the owner at or after expiry, not automatically.</a:t>
            </a:r>
          </a:p>
          <a:p xmlns:a="http://schemas.openxmlformats.org/drawingml/2006/main">
            <a:r>
              <a:t/>
            </a:r>
          </a:p>
          <a:p xmlns:a="http://schemas.openxmlformats.org/drawingml/2006/main">
            <a:r>
              <a:t>Sources:</a:t>
            </a:r>
          </a:p>
          <a:p xmlns:a="http://schemas.openxmlformats.org/drawingml/2006/main">
            <a:r>
              <a:t>https://repo.sourcify.dev/97/0x0837ac35ec54F678ba08912dcfd6166a299FCA31</a:t>
            </a:r>
          </a:p>
          <a:p xmlns:a="http://schemas.openxmlformats.org/drawingml/2006/main">
            <a:r>
              <a:t>https://github.com/agadape/Liber_BnB_hackathon_2026/blob/main/submission/project-detail.md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live preparation interface captured 2 October 2026. This screenshot is a UI-only walkthrough with a new unfunded local wallet, not the historical payment evidence. No transaction was sent during this capture.</a:t>
            </a:r>
          </a:p>
          <a:p xmlns:a="http://schemas.openxmlformats.org/drawingml/2006/main">
            <a:r>
              <a:t/>
            </a:r>
          </a:p>
          <a:p xmlns:a="http://schemas.openxmlformats.org/drawingml/2006/main">
            <a:r>
              <a:t>Sources:</a:t>
            </a:r>
          </a:p>
          <a:p xmlns:a="http://schemas.openxmlformats.org/drawingml/2006/main">
            <a:r>
              <a:t>https://liber-bnb-web.vercel.app/ghost/create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immutable vault checks authorization, recipient and lifecycle. No admin withdrawal, fees, pause or upgrade path exists. EOA only. Active signature becomes public after redemption. No delivery or rupiah settlement guarantee. Tests are not an independent audit.</a:t>
            </a:r>
          </a:p>
          <a:p xmlns:a="http://schemas.openxmlformats.org/drawingml/2006/main">
            <a:r>
              <a:t/>
            </a:r>
          </a:p>
          <a:p xmlns:a="http://schemas.openxmlformats.org/drawingml/2006/main">
            <a:r>
              <a:t>Sources:</a:t>
            </a:r>
          </a:p>
          <a:p xmlns:a="http://schemas.openxmlformats.org/drawingml/2006/main">
            <a:r>
              <a:t>https://repo.sourcify.dev/97/0x0837ac35ec54F678ba08912dcfd6166a299FCA31</a:t>
            </a:r>
          </a:p>
          <a:p xmlns:a="http://schemas.openxmlformats.org/drawingml/2006/main">
            <a:r>
              <a:t>https://github.com/agadape/Liber_BnB_hackathon_2026/blob/main/docs/GHOST-PITCH-QA.md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recorded testnet transactions: five MockUSDC transferred to merchant, two MockUSDC reclaimed to owner from a different expired voucher. Both public pages verify canonical events and matching ERC20 transfers. The 171 tests and 12 hosted checks are recorded engineering evidence, not customer traction or independent audit.</a:t>
            </a:r>
          </a:p>
          <a:p xmlns:a="http://schemas.openxmlformats.org/drawingml/2006/main">
            <a:r>
              <a:t/>
            </a:r>
          </a:p>
          <a:p xmlns:a="http://schemas.openxmlformats.org/drawingml/2006/main">
            <a:r>
              <a:t>Sources:</a:t>
            </a:r>
          </a:p>
          <a:p xmlns:a="http://schemas.openxmlformats.org/drawingml/2006/main">
            <a:r>
              <a:t>https://liber-bnb-web.vercel.app/ghost/receipt?id=0xdfad2e816fba512fdda912ced241d9464c3f1358c16427fcfd7ac3fac2067924</a:t>
            </a:r>
          </a:p>
          <a:p xmlns:a="http://schemas.openxmlformats.org/drawingml/2006/main">
            <a:r>
              <a:t>https://liber-bnb-web.vercel.app/ghost/receipt?id=0x5f04a6af2b67a0519ed123946b3b5834d5648974ea23edfd8c70fbf2c0a567fb</a:t>
            </a:r>
          </a:p>
          <a:p xmlns:a="http://schemas.openxmlformats.org/drawingml/2006/main">
            <a:r>
              <a:t>https://github.com/agadape/Liber_BnB_hackathon_2026/blob/main/contracts/deployments/ghost-demo-e2e.json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holds the private authorization locally. The backend stores unsigned metadata and verified proofs; it does not store active signatures or keys. SIWE guards wallet-owned metadata. Contract source has an exact Sourcify match; a BscScan source badge is not claimed. BSC Testnet chain97, EIP712 LiberGhost v1.</a:t>
            </a:r>
          </a:p>
          <a:p xmlns:a="http://schemas.openxmlformats.org/drawingml/2006/main">
            <a:r>
              <a:t/>
            </a:r>
          </a:p>
          <a:p xmlns:a="http://schemas.openxmlformats.org/drawingml/2006/main">
            <a:r>
              <a:t>Sources:</a:t>
            </a:r>
          </a:p>
          <a:p xmlns:a="http://schemas.openxmlformats.org/drawingml/2006/main">
            <a:r>
              <a:t>https://repo.sourcify.dev/97/0x0837ac35ec54F678ba08912dcfd6166a299FCA31</a:t>
            </a:r>
          </a:p>
          <a:p xmlns:a="http://schemas.openxmlformats.org/drawingml/2006/main">
            <a:r>
              <a:t>https://testnet.bscscan.com/address/0x0837ac35ec54F678ba08912dcfd6166a299FCA31</a:t>
            </a:r>
          </a:p>
          <a:p xmlns:a="http://schemas.openxmlformats.org/drawingml/2006/main">
            <a:r>
              <a:t>https://github.com/agadape/Liber_BnB_hackathon_2026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not traction: bounded event with prearranged merchants and sandbox community tokens. Measure setup friction, scan success and merchant comprehension. Physical full-device-off and print tests remain pending. Independent security review and a defined operating/legal model are gates before real value. No revenue, adoption or regulatory approval claimed.</a:t>
            </a:r>
          </a:p>
          <a:p xmlns:a="http://schemas.openxmlformats.org/drawingml/2006/main">
            <a:r>
              <a:t/>
            </a:r>
          </a:p>
          <a:p xmlns:a="http://schemas.openxmlformats.org/drawingml/2006/main">
            <a:r>
              <a:t>Sources:</a:t>
            </a:r>
          </a:p>
          <a:p xmlns:a="http://schemas.openxmlformats.org/drawingml/2006/main">
            <a:r>
              <a:t>https://github.com/agadape/Liber_BnB_hackathon_2026/blob/main/docs/GHOST-PITCH-QA.md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Explore the live workspace and linked evidence without a wallet. We seek feedback and a small prearranged sandbox merchant pilot. This closing illustration is original Liber artwork. English film and editable pitch sources are in the repo; external video/deck publication is handled separately.</a:t>
            </a:r>
          </a:p>
          <a:p xmlns:a="http://schemas.openxmlformats.org/drawingml/2006/main">
            <a:r>
              <a:t/>
            </a:r>
          </a:p>
          <a:p xmlns:a="http://schemas.openxmlformats.org/drawingml/2006/main">
            <a:r>
              <a:t>Sources:</a:t>
            </a:r>
          </a:p>
          <a:p xmlns:a="http://schemas.openxmlformats.org/drawingml/2006/main">
            <a:r>
              <a:t>https://liber-bnb-web.vercel.app/ghost</a:t>
            </a:r>
          </a:p>
          <a:p xmlns:a="http://schemas.openxmlformats.org/drawingml/2006/main">
            <a:r>
              <a:t>https://github.com/agadape/Liber_BnB_hackathon_2026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4cfd0f66c04a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774cb8e8d14091" /><Relationship Type="http://schemas.openxmlformats.org/officeDocument/2006/relationships/slideLayout" Target="/ppt/slideLayouts/slideLayout1.xml" Id="R298ad975464840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8ad975464840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e2a74316424bdf" /><Relationship Type="http://schemas.openxmlformats.org/officeDocument/2006/relationships/image" Target="/ppt/media/image.png" Id="R9c9c7719154147f8" /><Relationship Type="http://schemas.openxmlformats.org/officeDocument/2006/relationships/image" Target="/ppt/media/image.jpeg" Id="R5b68bb8fcb2c4a1d" /><Relationship Type="http://schemas.openxmlformats.org/officeDocument/2006/relationships/notesSlide" Target="/ppt/notesSlides/notesSlide1.xml" Id="Rf6a1d113ef314b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a93ccf904b4360" /><Relationship Type="http://schemas.openxmlformats.org/officeDocument/2006/relationships/image" Target="/ppt/media/image2.png" Id="R8a7df9ceb50e4cb7" /><Relationship Type="http://schemas.openxmlformats.org/officeDocument/2006/relationships/image" Target="/ppt/media/image2.jpeg" Id="R61f4b33c531c4e4b" /><Relationship Type="http://schemas.openxmlformats.org/officeDocument/2006/relationships/notesSlide" Target="/ppt/notesSlides/notesSlide2.xml" Id="R7060ecc81df743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9e1226e6bd43e3" /><Relationship Type="http://schemas.openxmlformats.org/officeDocument/2006/relationships/image" Target="/ppt/media/image3.png" Id="R6cda9ccf76354359" /><Relationship Type="http://schemas.openxmlformats.org/officeDocument/2006/relationships/notesSlide" Target="/ppt/notesSlides/notesSlide3.xml" Id="R1ff4246c92c745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9412baf5c14aca" /><Relationship Type="http://schemas.openxmlformats.org/officeDocument/2006/relationships/image" Target="/ppt/media/image4.png" Id="Rbef1c509fe934562" /><Relationship Type="http://schemas.openxmlformats.org/officeDocument/2006/relationships/notesSlide" Target="/ppt/notesSlides/notesSlide4.xml" Id="R1f40e214ce4047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a9b31a6c694875" /><Relationship Type="http://schemas.openxmlformats.org/officeDocument/2006/relationships/image" Target="/ppt/media/image5.png" Id="R729efd4bd3d14096" /><Relationship Type="http://schemas.openxmlformats.org/officeDocument/2006/relationships/image" Target="/ppt/media/image3.jpeg" Id="R9b7f5493ce2644a0" /><Relationship Type="http://schemas.openxmlformats.org/officeDocument/2006/relationships/notesSlide" Target="/ppt/notesSlides/notesSlide5.xml" Id="R64614116c80542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3e94c020e5f40f1" /><Relationship Type="http://schemas.openxmlformats.org/officeDocument/2006/relationships/image" Target="/ppt/media/image6.png" Id="Rb52e7a6c534e4e78" /><Relationship Type="http://schemas.openxmlformats.org/officeDocument/2006/relationships/notesSlide" Target="/ppt/notesSlides/notesSlide6.xml" Id="R69adeacb877d4a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944b8b3bb44fb5" /><Relationship Type="http://schemas.openxmlformats.org/officeDocument/2006/relationships/image" Target="/ppt/media/image7.png" Id="R860ff43e3baa420a" /><Relationship Type="http://schemas.openxmlformats.org/officeDocument/2006/relationships/hyperlink" Target="https://liber-bnb-web.vercel.app/ghost/receipt?id=0xdfad2e816fba512fdda912ced241d9464c3f1358c16427fcfd7ac3fac2067924" TargetMode="External" Id="R97382135557843fa" /><Relationship Type="http://schemas.openxmlformats.org/officeDocument/2006/relationships/hyperlink" Target="https://liber-bnb-web.vercel.app/ghost/receipt?id=0x5f04a6af2b67a0519ed123946b3b5834d5648974ea23edfd8c70fbf2c0a567fb" TargetMode="External" Id="R3f9a3a42ffbe4ec6" /><Relationship Type="http://schemas.openxmlformats.org/officeDocument/2006/relationships/notesSlide" Target="/ppt/notesSlides/notesSlide7.xml" Id="Re33ad6b943954ea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0263d9f78c465d" /><Relationship Type="http://schemas.openxmlformats.org/officeDocument/2006/relationships/image" Target="/ppt/media/image8.png" Id="R4fbd5335bb5c404e" /><Relationship Type="http://schemas.openxmlformats.org/officeDocument/2006/relationships/hyperlink" Target="https://testnet.bscscan.com/address/0x0837ac35ec54F678ba08912dcfd6166a299FCA31" TargetMode="External" Id="Rc5e4cb5544a44e9a" /><Relationship Type="http://schemas.openxmlformats.org/officeDocument/2006/relationships/hyperlink" Target="https://testnet.bscscan.com/address/0x0837ac35ec54F678ba08912dcfd6166a299FCA31" TargetMode="External" Id="R8c184c5b5b3048d8" /><Relationship Type="http://schemas.openxmlformats.org/officeDocument/2006/relationships/hyperlink" Target="https://repo.sourcify.dev/97/0x0837ac35ec54F678ba08912dcfd6166a299FCA31" TargetMode="External" Id="R799ed351a05b4441" /><Relationship Type="http://schemas.openxmlformats.org/officeDocument/2006/relationships/notesSlide" Target="/ppt/notesSlides/notesSlide8.xml" Id="R3ead181f811843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5df2a741854247" /><Relationship Type="http://schemas.openxmlformats.org/officeDocument/2006/relationships/image" Target="/ppt/media/image9.png" Id="Rfe57eb15aef94800" /><Relationship Type="http://schemas.openxmlformats.org/officeDocument/2006/relationships/notesSlide" Target="/ppt/notesSlides/notesSlide9.xml" Id="Re27d6433af1d45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1d8a42994041e0" /><Relationship Type="http://schemas.openxmlformats.org/officeDocument/2006/relationships/image" Target="/ppt/media/image10.png" Id="R67c83601ed26463b" /><Relationship Type="http://schemas.openxmlformats.org/officeDocument/2006/relationships/image" Target="/ppt/media/image4.jpeg" Id="Rdb78118d05a84f23" /><Relationship Type="http://schemas.openxmlformats.org/officeDocument/2006/relationships/hyperlink" Target="https://liber-bnb-web.vercel.app/ghost" TargetMode="External" Id="Rc8dfc53f52db4387" /><Relationship Type="http://schemas.openxmlformats.org/officeDocument/2006/relationships/hyperlink" Target="https://github.com/agadape/Liber_BnB_hackathon_2026" TargetMode="External" Id="R7b9692aa5da046ee" /><Relationship Type="http://schemas.openxmlformats.org/officeDocument/2006/relationships/notesSlide" Target="/ppt/notesSlides/notesSlide10.xml" Id="Rd44db41edf894177" /></Relationships>
</file>

<file path=ppt/slides/slide1.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c9c7719154147f8"/>
          <a:stretch xmlns:a="http://schemas.openxmlformats.org/drawingml/2006/main"/>
        </p:blipFill>
        <p:spPr>
          <a:xfrm xmlns:a="http://schemas.openxmlformats.org/drawingml/2006/main">
            <a:off x="619125" y="342900"/>
            <a:ext cx="361950" cy="361950"/>
          </a:xfrm>
          <a:prstGeom xmlns:a="http://schemas.openxmlformats.org/drawingml/2006/main" prst="rect">
            <a:avLst/>
          </a:prstGeom>
        </p:spPr>
      </p:pic>
      <p:sp>
        <p:nvSpPr>
          <p:cNvPr id="2" name="liber:Ghost Protocol">
            <a:extLst xmlns:a="http://schemas.openxmlformats.org/drawingml/2006/main">
              <a:ext uri="{FF2B5EF4-FFF2-40B4-BE49-F238E27FC236}">
                <a16:creationId xmlns:a16="http://schemas.microsoft.com/office/drawing/2014/main" id="{15C5FE92-C225-4531-A99F-EE71243C976E}"/>
              </a:ext>
            </a:extLst>
          </p:cNvPr>
          <p:cNvSpPr>
            <a:spLocks xmlns:a="http://schemas.openxmlformats.org/drawingml/2006/main" noGrp="1"/>
          </p:cNvSpPr>
          <p:nvPr/>
        </p:nvSpPr>
        <p:spPr>
          <a:xfrm xmlns:a="http://schemas.openxmlformats.org/drawingml/2006/main">
            <a:off x="1123950" y="38100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063D2C"/>
                </a:solidFill>
                <a:latin typeface="Georgia"/>
                <a:ea typeface="Georgia"/>
                <a:cs typeface="Georgia"/>
              </a:defRPr>
            </a:pPr>
            <a:r>
              <a:rPr sz="2100" b="0" i="0">
                <a:solidFill>
                  <a:srgbClr val="063D2C"/>
                </a:solidFill>
                <a:latin typeface="Georgia"/>
                <a:ea typeface="Georgia"/>
                <a:cs typeface="Georgia"/>
              </a:rPr>
              <a:t>liber:Ghost Protocol</a:t>
            </a:r>
          </a:p>
        </p:txBody>
      </p:sp>
      <p:sp>
        <p:nvSpPr>
          <p:cNvPr id="3" name="01">
            <a:extLst xmlns:a="http://schemas.openxmlformats.org/drawingml/2006/main">
              <a:ext uri="{FF2B5EF4-FFF2-40B4-BE49-F238E27FC236}">
                <a16:creationId xmlns:a16="http://schemas.microsoft.com/office/drawing/2014/main" id="{D5764C35-60D5-42C2-AC10-684E80D29E1E}"/>
              </a:ext>
            </a:extLst>
          </p:cNvPr>
          <p:cNvSpPr>
            <a:spLocks xmlns:a="http://schemas.openxmlformats.org/drawingml/2006/main" noGrp="1"/>
          </p:cNvSpPr>
          <p:nvPr/>
        </p:nvSpPr>
        <p:spPr>
          <a:xfrm xmlns:a="http://schemas.openxmlformats.org/drawingml/2006/main">
            <a:off x="11049000" y="63436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2635B"/>
                </a:solidFill>
                <a:latin typeface="Arial"/>
                <a:ea typeface="Arial"/>
                <a:cs typeface="Arial"/>
              </a:defRPr>
            </a:pPr>
            <a:r>
              <a:rPr sz="1650" b="0" i="0">
                <a:solidFill>
                  <a:srgbClr val="52635B"/>
                </a:solidFill>
                <a:latin typeface="Arial"/>
                <a:ea typeface="Arial"/>
                <a:cs typeface="Arial"/>
              </a:rPr>
              <a:t>01</a:t>
            </a:r>
          </a:p>
        </p:txBody>
      </p:sp>
      <p:sp>
        <p:nvSpPr>
          <p:cNvPr id="4" name="Phone off.">
            <a:extLst xmlns:a="http://schemas.openxmlformats.org/drawingml/2006/main">
              <a:ext uri="{FF2B5EF4-FFF2-40B4-BE49-F238E27FC236}">
                <a16:creationId xmlns:a16="http://schemas.microsoft.com/office/drawing/2014/main" id="{5E3221D3-DB8F-4DE7-A6AF-CA459F30C9A8}"/>
              </a:ext>
            </a:extLst>
          </p:cNvPr>
          <p:cNvSpPr>
            <a:spLocks xmlns:a="http://schemas.openxmlformats.org/drawingml/2006/main" noGrp="1"/>
          </p:cNvSpPr>
          <p:nvPr/>
        </p:nvSpPr>
        <p:spPr>
          <a:xfrm xmlns:a="http://schemas.openxmlformats.org/drawingml/2006/main">
            <a:off x="638175" y="1571625"/>
            <a:ext cx="6286500" cy="2066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0" i="0">
                <a:solidFill>
                  <a:srgbClr val="063D2C"/>
                </a:solidFill>
                <a:latin typeface="Georgia"/>
                <a:ea typeface="Georgia"/>
                <a:cs typeface="Georgia"/>
              </a:defRPr>
            </a:pPr>
            <a:r>
              <a:rPr sz="5700" b="0" i="0">
                <a:solidFill>
                  <a:srgbClr val="063D2C"/>
                </a:solidFill>
                <a:latin typeface="Georgia"/>
                <a:ea typeface="Georgia"/>
                <a:cs typeface="Georgia"/>
              </a:rPr>
              <a:t>Phone off.</a:t>
            </a:r>
          </a:p>
          <a:p xmlns:a="http://schemas.openxmlformats.org/drawingml/2006/main">
            <a:pPr algn="l">
              <a:defRPr sz="5700" b="0" i="0">
                <a:solidFill>
                  <a:srgbClr val="063D2C"/>
                </a:solidFill>
                <a:latin typeface="Georgia"/>
                <a:ea typeface="Georgia"/>
                <a:cs typeface="Georgia"/>
              </a:defRPr>
            </a:pPr>
            <a:r>
              <a:rPr sz="5700" b="0" i="0">
                <a:solidFill>
                  <a:srgbClr val="063D2C"/>
                </a:solidFill>
                <a:latin typeface="Georgia"/>
                <a:ea typeface="Georgia"/>
                <a:cs typeface="Georgia"/>
              </a:rPr>
              <a:t>Permission on.</a:t>
            </a:r>
          </a:p>
        </p:txBody>
      </p:sp>
      <p:sp>
        <p:nvSpPr>
          <p:cNvPr id="5" name="A prefunded payment permission">
            <a:extLst xmlns:a="http://schemas.openxmlformats.org/drawingml/2006/main">
              <a:ext uri="{FF2B5EF4-FFF2-40B4-BE49-F238E27FC236}">
                <a16:creationId xmlns:a16="http://schemas.microsoft.com/office/drawing/2014/main" id="{B0D2658F-2C8B-484E-AB24-DDD96F21114A}"/>
              </a:ext>
            </a:extLst>
          </p:cNvPr>
          <p:cNvSpPr>
            <a:spLocks xmlns:a="http://schemas.openxmlformats.org/drawingml/2006/main" noGrp="1"/>
          </p:cNvSpPr>
          <p:nvPr/>
        </p:nvSpPr>
        <p:spPr>
          <a:xfrm xmlns:a="http://schemas.openxmlformats.org/drawingml/2006/main">
            <a:off x="685800" y="4095750"/>
            <a:ext cx="5619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i="0">
                <a:solidFill>
                  <a:srgbClr val="101E1A"/>
                </a:solidFill>
                <a:latin typeface="Arial"/>
                <a:ea typeface="Arial"/>
                <a:cs typeface="Arial"/>
              </a:defRPr>
            </a:pPr>
            <a:r>
              <a:rPr sz="2475" b="0" i="0">
                <a:solidFill>
                  <a:srgbClr val="101E1A"/>
                </a:solidFill>
                <a:latin typeface="Arial"/>
                <a:ea typeface="Arial"/>
                <a:cs typeface="Arial"/>
              </a:rPr>
              <a:t>A prefunded payment permission</a:t>
            </a:r>
          </a:p>
          <a:p xmlns:a="http://schemas.openxmlformats.org/drawingml/2006/main">
            <a:pPr algn="l">
              <a:defRPr sz="2475" b="0" i="0">
                <a:solidFill>
                  <a:srgbClr val="101E1A"/>
                </a:solidFill>
                <a:latin typeface="Arial"/>
                <a:ea typeface="Arial"/>
                <a:cs typeface="Arial"/>
              </a:defRPr>
            </a:pPr>
            <a:r>
              <a:rPr sz="2475" b="0" i="0">
                <a:solidFill>
                  <a:srgbClr val="101E1A"/>
                </a:solidFill>
                <a:latin typeface="Arial"/>
                <a:ea typeface="Arial"/>
                <a:cs typeface="Arial"/>
              </a:rPr>
              <a:t>that can leave your phone.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b68bb8fcb2c4a1d"/>
          <a:stretch xmlns:a="http://schemas.openxmlformats.org/drawingml/2006/main"/>
        </p:blipFill>
        <p:spPr>
          <a:xfrm xmlns:a="http://schemas.openxmlformats.org/drawingml/2006/main">
            <a:off x="7067550" y="1285875"/>
            <a:ext cx="4572000" cy="4572000"/>
          </a:xfrm>
          <a:prstGeom xmlns:a="http://schemas.openxmlformats.org/drawingml/2006/main" prst="rect">
            <a:avLst/>
          </a:prstGeom>
        </p:spPr>
      </p:pic>
      <p:sp>
        <p:nvSpPr>
          <p:cNvPr id="7" name="BSC Testnet / MockUSDC / No cash value">
            <a:extLst xmlns:a="http://schemas.openxmlformats.org/drawingml/2006/main">
              <a:ext uri="{FF2B5EF4-FFF2-40B4-BE49-F238E27FC236}">
                <a16:creationId xmlns:a16="http://schemas.microsoft.com/office/drawing/2014/main" id="{F4017E79-E6D1-4659-9863-246AE27D9DB3}"/>
              </a:ext>
            </a:extLst>
          </p:cNvPr>
          <p:cNvSpPr>
            <a:spLocks xmlns:a="http://schemas.openxmlformats.org/drawingml/2006/main" noGrp="1"/>
          </p:cNvSpPr>
          <p:nvPr/>
        </p:nvSpPr>
        <p:spPr>
          <a:xfrm xmlns:a="http://schemas.openxmlformats.org/drawingml/2006/main">
            <a:off x="695325" y="6219825"/>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52635B"/>
                </a:solidFill>
                <a:latin typeface="Arial"/>
                <a:ea typeface="Arial"/>
                <a:cs typeface="Arial"/>
              </a:defRPr>
            </a:pPr>
            <a:r>
              <a:rPr sz="1800" b="0" i="0">
                <a:solidFill>
                  <a:srgbClr val="52635B"/>
                </a:solidFill>
                <a:latin typeface="Arial"/>
                <a:ea typeface="Arial"/>
                <a:cs typeface="Arial"/>
              </a:rPr>
              <a:t>BSC Testnet / MockUSDC / No cash value</a:t>
            </a:r>
          </a:p>
        </p:txBody>
      </p:sp>
    </p:spTree>
    <p:extLst>
      <p:ext uri="{BB962C8B-B14F-4D97-AF65-F5344CB8AC3E}">
        <p14:creationId xmlns:p14="http://schemas.microsoft.com/office/powerpoint/2010/main" val="807739997"/>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a7df9ceb50e4cb7"/>
          <a:stretch xmlns:a="http://schemas.openxmlformats.org/drawingml/2006/main"/>
        </p:blipFill>
        <p:spPr>
          <a:xfrm xmlns:a="http://schemas.openxmlformats.org/drawingml/2006/main">
            <a:off x="619125" y="342900"/>
            <a:ext cx="361950" cy="361950"/>
          </a:xfrm>
          <a:prstGeom xmlns:a="http://schemas.openxmlformats.org/drawingml/2006/main" prst="rect">
            <a:avLst/>
          </a:prstGeom>
        </p:spPr>
      </p:pic>
      <p:sp>
        <p:nvSpPr>
          <p:cNvPr id="2" name="liber:Ghost Protocol">
            <a:extLst xmlns:a="http://schemas.openxmlformats.org/drawingml/2006/main">
              <a:ext uri="{FF2B5EF4-FFF2-40B4-BE49-F238E27FC236}">
                <a16:creationId xmlns:a16="http://schemas.microsoft.com/office/drawing/2014/main" id="{2C28AAF7-AE08-42A1-979C-36DE7E6C07D2}"/>
              </a:ext>
            </a:extLst>
          </p:cNvPr>
          <p:cNvSpPr>
            <a:spLocks xmlns:a="http://schemas.openxmlformats.org/drawingml/2006/main" noGrp="1"/>
          </p:cNvSpPr>
          <p:nvPr/>
        </p:nvSpPr>
        <p:spPr>
          <a:xfrm xmlns:a="http://schemas.openxmlformats.org/drawingml/2006/main">
            <a:off x="1123950" y="38100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063D2C"/>
                </a:solidFill>
                <a:latin typeface="Georgia"/>
                <a:ea typeface="Georgia"/>
                <a:cs typeface="Georgia"/>
              </a:defRPr>
            </a:pPr>
            <a:r>
              <a:rPr sz="2100" b="0" i="0">
                <a:solidFill>
                  <a:srgbClr val="063D2C"/>
                </a:solidFill>
                <a:latin typeface="Georgia"/>
                <a:ea typeface="Georgia"/>
                <a:cs typeface="Georgia"/>
              </a:rPr>
              <a:t>liber:Ghost Protocol</a:t>
            </a:r>
          </a:p>
        </p:txBody>
      </p:sp>
      <p:sp>
        <p:nvSpPr>
          <p:cNvPr id="3" name="02">
            <a:extLst xmlns:a="http://schemas.openxmlformats.org/drawingml/2006/main">
              <a:ext uri="{FF2B5EF4-FFF2-40B4-BE49-F238E27FC236}">
                <a16:creationId xmlns:a16="http://schemas.microsoft.com/office/drawing/2014/main" id="{01892A67-E8DF-4D40-8EAC-8B99093F7127}"/>
              </a:ext>
            </a:extLst>
          </p:cNvPr>
          <p:cNvSpPr>
            <a:spLocks xmlns:a="http://schemas.openxmlformats.org/drawingml/2006/main" noGrp="1"/>
          </p:cNvSpPr>
          <p:nvPr/>
        </p:nvSpPr>
        <p:spPr>
          <a:xfrm xmlns:a="http://schemas.openxmlformats.org/drawingml/2006/main">
            <a:off x="11049000" y="63436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2635B"/>
                </a:solidFill>
                <a:latin typeface="Arial"/>
                <a:ea typeface="Arial"/>
                <a:cs typeface="Arial"/>
              </a:defRPr>
            </a:pPr>
            <a:r>
              <a:rPr sz="1650" b="0" i="0">
                <a:solidFill>
                  <a:srgbClr val="52635B"/>
                </a:solidFill>
                <a:latin typeface="Arial"/>
                <a:ea typeface="Arial"/>
                <a:cs typeface="Arial"/>
              </a:rPr>
              <a:t>02</a:t>
            </a:r>
          </a:p>
        </p:txBody>
      </p:sp>
      <p:sp>
        <p:nvSpPr>
          <p:cNvPr id="4" name="The sandwich is ready.">
            <a:extLst xmlns:a="http://schemas.openxmlformats.org/drawingml/2006/main">
              <a:ext uri="{FF2B5EF4-FFF2-40B4-BE49-F238E27FC236}">
                <a16:creationId xmlns:a16="http://schemas.microsoft.com/office/drawing/2014/main" id="{25761190-0DC7-4759-A0EC-C9BF89A1BF76}"/>
              </a:ext>
            </a:extLst>
          </p:cNvPr>
          <p:cNvSpPr>
            <a:spLocks xmlns:a="http://schemas.openxmlformats.org/drawingml/2006/main" noGrp="1"/>
          </p:cNvSpPr>
          <p:nvPr/>
        </p:nvSpPr>
        <p:spPr>
          <a:xfrm xmlns:a="http://schemas.openxmlformats.org/drawingml/2006/main">
            <a:off x="647700" y="1504950"/>
            <a:ext cx="7239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0" i="0">
                <a:solidFill>
                  <a:srgbClr val="101E1A"/>
                </a:solidFill>
                <a:latin typeface="Georgia"/>
                <a:ea typeface="Georgia"/>
                <a:cs typeface="Georgia"/>
              </a:defRPr>
            </a:pPr>
            <a:r>
              <a:rPr sz="4500" b="0" i="0">
                <a:solidFill>
                  <a:srgbClr val="101E1A"/>
                </a:solidFill>
                <a:latin typeface="Georgia"/>
                <a:ea typeface="Georgia"/>
                <a:cs typeface="Georgia"/>
              </a:rPr>
              <a:t>The sandwich is ready.</a:t>
            </a:r>
          </a:p>
          <a:p xmlns:a="http://schemas.openxmlformats.org/drawingml/2006/main">
            <a:pPr algn="l">
              <a:defRPr sz="4500" b="0" i="0">
                <a:solidFill>
                  <a:srgbClr val="101E1A"/>
                </a:solidFill>
                <a:latin typeface="Georgia"/>
                <a:ea typeface="Georgia"/>
                <a:cs typeface="Georgia"/>
              </a:defRPr>
            </a:pPr>
            <a:r>
              <a:rPr sz="4500" b="0" i="0">
                <a:solidFill>
                  <a:srgbClr val="101E1A"/>
                </a:solidFill>
                <a:latin typeface="Georgia"/>
                <a:ea typeface="Georgia"/>
                <a:cs typeface="Georgia"/>
              </a:rPr>
              <a:t>My battery is not.</a:t>
            </a:r>
          </a:p>
        </p:txBody>
      </p:sp>
      <p:sp>
        <p:nvSpPr>
          <p:cNvPr id="5" name="1% battery.">
            <a:extLst xmlns:a="http://schemas.openxmlformats.org/drawingml/2006/main">
              <a:ext uri="{FF2B5EF4-FFF2-40B4-BE49-F238E27FC236}">
                <a16:creationId xmlns:a16="http://schemas.microsoft.com/office/drawing/2014/main" id="{B5326189-D032-417C-B05B-358391B6719E}"/>
              </a:ext>
            </a:extLst>
          </p:cNvPr>
          <p:cNvSpPr>
            <a:spLocks xmlns:a="http://schemas.openxmlformats.org/drawingml/2006/main" noGrp="1"/>
          </p:cNvSpPr>
          <p:nvPr/>
        </p:nvSpPr>
        <p:spPr>
          <a:xfrm xmlns:a="http://schemas.openxmlformats.org/drawingml/2006/main">
            <a:off x="704850" y="3800475"/>
            <a:ext cx="5905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i="0">
                <a:solidFill>
                  <a:srgbClr val="0B6B4E"/>
                </a:solidFill>
                <a:latin typeface="Arial"/>
                <a:ea typeface="Arial"/>
                <a:cs typeface="Arial"/>
              </a:defRPr>
            </a:pPr>
            <a:r>
              <a:rPr sz="2925" b="1" i="0">
                <a:solidFill>
                  <a:srgbClr val="0B6B4E"/>
                </a:solidFill>
                <a:latin typeface="Arial"/>
                <a:ea typeface="Arial"/>
                <a:cs typeface="Arial"/>
              </a:rPr>
              <a:t>1% battery.</a:t>
            </a:r>
          </a:p>
          <a:p xmlns:a="http://schemas.openxmlformats.org/drawingml/2006/main">
            <a:pPr algn="l">
              <a:defRPr sz="2925" b="1" i="0">
                <a:solidFill>
                  <a:srgbClr val="0B6B4E"/>
                </a:solidFill>
                <a:latin typeface="Arial"/>
                <a:ea typeface="Arial"/>
                <a:cs typeface="Arial"/>
              </a:defRPr>
            </a:pPr>
            <a:r>
              <a:rPr sz="2925" b="1" i="0">
                <a:solidFill>
                  <a:srgbClr val="0B6B4E"/>
                </a:solidFill>
                <a:latin typeface="Arial"/>
                <a:ea typeface="Arial"/>
                <a:cs typeface="Arial"/>
              </a:rPr>
              <a:t>100% terrible timing.</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1f4b33c531c4e4b"/>
          <a:stretch xmlns:a="http://schemas.openxmlformats.org/drawingml/2006/main"/>
        </p:blipFill>
        <p:spPr>
          <a:xfrm xmlns:a="http://schemas.openxmlformats.org/drawingml/2006/main">
            <a:off x="7667625" y="2333625"/>
            <a:ext cx="3857625" cy="3857625"/>
          </a:xfrm>
          <a:prstGeom xmlns:a="http://schemas.openxmlformats.org/drawingml/2006/main" prst="rect">
            <a:avLst/>
          </a:prstGeom>
        </p:spPr>
      </p:pic>
      <p:sp>
        <p:nvSpPr>
          <p:cNvPr id="7" name="What if the permission was ready before the battery died?">
            <a:extLst xmlns:a="http://schemas.openxmlformats.org/drawingml/2006/main">
              <a:ext uri="{FF2B5EF4-FFF2-40B4-BE49-F238E27FC236}">
                <a16:creationId xmlns:a16="http://schemas.microsoft.com/office/drawing/2014/main" id="{C04055D2-D2EA-4AD5-A8A2-18EAAC4CC677}"/>
              </a:ext>
            </a:extLst>
          </p:cNvPr>
          <p:cNvSpPr>
            <a:spLocks xmlns:a="http://schemas.openxmlformats.org/drawingml/2006/main" noGrp="1"/>
          </p:cNvSpPr>
          <p:nvPr/>
        </p:nvSpPr>
        <p:spPr>
          <a:xfrm xmlns:a="http://schemas.openxmlformats.org/drawingml/2006/main">
            <a:off x="704850" y="5619750"/>
            <a:ext cx="685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52635B"/>
                </a:solidFill>
                <a:latin typeface="Arial"/>
                <a:ea typeface="Arial"/>
                <a:cs typeface="Arial"/>
              </a:defRPr>
            </a:pPr>
            <a:r>
              <a:rPr sz="2175" b="0" i="0">
                <a:solidFill>
                  <a:srgbClr val="52635B"/>
                </a:solidFill>
                <a:latin typeface="Arial"/>
                <a:ea typeface="Arial"/>
                <a:cs typeface="Arial"/>
              </a:rPr>
              <a:t>What if the permission was ready before the battery died?</a:t>
            </a:r>
          </a:p>
        </p:txBody>
      </p:sp>
    </p:spTree>
    <p:extLst>
      <p:ext uri="{BB962C8B-B14F-4D97-AF65-F5344CB8AC3E}">
        <p14:creationId xmlns:p14="http://schemas.microsoft.com/office/powerpoint/2010/main" val="1770413521"/>
      </p:ext>
    </p:extLst>
  </p:cSld>
</p:sld>
</file>

<file path=ppt/slides/slide3.xml><?xml version="1.0" encoding="utf-8"?>
<p:sld xmlns:p="http://schemas.openxmlformats.org/presentationml/2006/main">
  <p:cSld>
    <p:bg>
      <p:bgPr>
        <a:solidFill xmlns:a="http://schemas.openxmlformats.org/drawingml/2006/main">
          <a:srgbClr val="063D2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cda9ccf76354359"/>
          <a:stretch xmlns:a="http://schemas.openxmlformats.org/drawingml/2006/main"/>
        </p:blipFill>
        <p:spPr>
          <a:xfrm xmlns:a="http://schemas.openxmlformats.org/drawingml/2006/main">
            <a:off x="619125" y="342900"/>
            <a:ext cx="361950" cy="361950"/>
          </a:xfrm>
          <a:prstGeom xmlns:a="http://schemas.openxmlformats.org/drawingml/2006/main" prst="rect">
            <a:avLst/>
          </a:prstGeom>
        </p:spPr>
      </p:pic>
      <p:sp>
        <p:nvSpPr>
          <p:cNvPr id="2" name="liber:Ghost Protocol">
            <a:extLst xmlns:a="http://schemas.openxmlformats.org/drawingml/2006/main">
              <a:ext uri="{FF2B5EF4-FFF2-40B4-BE49-F238E27FC236}">
                <a16:creationId xmlns:a16="http://schemas.microsoft.com/office/drawing/2014/main" id="{E01B25DD-6C29-42C9-9C8C-C759546931AC}"/>
              </a:ext>
            </a:extLst>
          </p:cNvPr>
          <p:cNvSpPr>
            <a:spLocks xmlns:a="http://schemas.openxmlformats.org/drawingml/2006/main" noGrp="1"/>
          </p:cNvSpPr>
          <p:nvPr/>
        </p:nvSpPr>
        <p:spPr>
          <a:xfrm xmlns:a="http://schemas.openxmlformats.org/drawingml/2006/main">
            <a:off x="1123950" y="38100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F5F3E9"/>
                </a:solidFill>
                <a:latin typeface="Georgia"/>
                <a:ea typeface="Georgia"/>
                <a:cs typeface="Georgia"/>
              </a:defRPr>
            </a:pPr>
            <a:r>
              <a:rPr sz="2100" b="0" i="0">
                <a:solidFill>
                  <a:srgbClr val="F5F3E9"/>
                </a:solidFill>
                <a:latin typeface="Georgia"/>
                <a:ea typeface="Georgia"/>
                <a:cs typeface="Georgia"/>
              </a:rPr>
              <a:t>liber:Ghost Protocol</a:t>
            </a:r>
          </a:p>
        </p:txBody>
      </p:sp>
      <p:sp>
        <p:nvSpPr>
          <p:cNvPr id="3" name="03">
            <a:extLst xmlns:a="http://schemas.openxmlformats.org/drawingml/2006/main">
              <a:ext uri="{FF2B5EF4-FFF2-40B4-BE49-F238E27FC236}">
                <a16:creationId xmlns:a16="http://schemas.microsoft.com/office/drawing/2014/main" id="{08851503-1250-4CA1-8CF9-7C2E30FBCDC6}"/>
              </a:ext>
            </a:extLst>
          </p:cNvPr>
          <p:cNvSpPr>
            <a:spLocks xmlns:a="http://schemas.openxmlformats.org/drawingml/2006/main" noGrp="1"/>
          </p:cNvSpPr>
          <p:nvPr/>
        </p:nvSpPr>
        <p:spPr>
          <a:xfrm xmlns:a="http://schemas.openxmlformats.org/drawingml/2006/main">
            <a:off x="11049000" y="63436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C5D2C4"/>
                </a:solidFill>
                <a:latin typeface="Arial"/>
                <a:ea typeface="Arial"/>
                <a:cs typeface="Arial"/>
              </a:defRPr>
            </a:pPr>
            <a:r>
              <a:rPr sz="1650" b="0" i="0">
                <a:solidFill>
                  <a:srgbClr val="C5D2C4"/>
                </a:solidFill>
                <a:latin typeface="Arial"/>
                <a:ea typeface="Arial"/>
                <a:cs typeface="Arial"/>
              </a:rPr>
              <a:t>03</a:t>
            </a:r>
          </a:p>
        </p:txBody>
      </p:sp>
      <p:sp>
        <p:nvSpPr>
          <p:cNvPr id="4" name="Give the paper limits.">
            <a:extLst xmlns:a="http://schemas.openxmlformats.org/drawingml/2006/main">
              <a:ext uri="{FF2B5EF4-FFF2-40B4-BE49-F238E27FC236}">
                <a16:creationId xmlns:a16="http://schemas.microsoft.com/office/drawing/2014/main" id="{A0D2E88F-024F-4CD5-A874-E79F06912574}"/>
              </a:ext>
            </a:extLst>
          </p:cNvPr>
          <p:cNvSpPr>
            <a:spLocks xmlns:a="http://schemas.openxmlformats.org/drawingml/2006/main" noGrp="1"/>
          </p:cNvSpPr>
          <p:nvPr/>
        </p:nvSpPr>
        <p:spPr>
          <a:xfrm xmlns:a="http://schemas.openxmlformats.org/drawingml/2006/main">
            <a:off x="685800" y="13239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0" i="0">
                <a:solidFill>
                  <a:srgbClr val="F5F3E9"/>
                </a:solidFill>
                <a:latin typeface="Georgia"/>
                <a:ea typeface="Georgia"/>
                <a:cs typeface="Georgia"/>
              </a:defRPr>
            </a:pPr>
            <a:r>
              <a:rPr sz="4800" b="0" i="0">
                <a:solidFill>
                  <a:srgbClr val="F5F3E9"/>
                </a:solidFill>
                <a:latin typeface="Georgia"/>
                <a:ea typeface="Georgia"/>
                <a:cs typeface="Georgia"/>
              </a:rPr>
              <a:t>Give the paper limits.</a:t>
            </a:r>
          </a:p>
        </p:txBody>
      </p:sp>
      <p:sp>
        <p:nvSpPr>
          <p:cNvPr id="5" name="One merchant.">
            <a:extLst xmlns:a="http://schemas.openxmlformats.org/drawingml/2006/main">
              <a:ext uri="{FF2B5EF4-FFF2-40B4-BE49-F238E27FC236}">
                <a16:creationId xmlns:a16="http://schemas.microsoft.com/office/drawing/2014/main" id="{50EB9330-6835-479D-9601-9448EB39A963}"/>
              </a:ext>
            </a:extLst>
          </p:cNvPr>
          <p:cNvSpPr>
            <a:spLocks xmlns:a="http://schemas.openxmlformats.org/drawingml/2006/main" noGrp="1"/>
          </p:cNvSpPr>
          <p:nvPr/>
        </p:nvSpPr>
        <p:spPr>
          <a:xfrm xmlns:a="http://schemas.openxmlformats.org/drawingml/2006/main">
            <a:off x="714375" y="2667000"/>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i="0">
                <a:solidFill>
                  <a:srgbClr val="F5F3E9"/>
                </a:solidFill>
                <a:latin typeface="Arial"/>
                <a:ea typeface="Arial"/>
                <a:cs typeface="Arial"/>
              </a:defRPr>
            </a:pPr>
            <a:r>
              <a:rPr sz="4350" b="0" i="0">
                <a:solidFill>
                  <a:srgbClr val="F5F3E9"/>
                </a:solidFill>
                <a:latin typeface="Arial"/>
                <a:ea typeface="Arial"/>
                <a:cs typeface="Arial"/>
              </a:rPr>
              <a:t>One merchant.</a:t>
            </a:r>
          </a:p>
        </p:txBody>
      </p:sp>
      <p:sp>
        <p:nvSpPr>
          <p:cNvPr id="6" name="One amount.">
            <a:extLst xmlns:a="http://schemas.openxmlformats.org/drawingml/2006/main">
              <a:ext uri="{FF2B5EF4-FFF2-40B4-BE49-F238E27FC236}">
                <a16:creationId xmlns:a16="http://schemas.microsoft.com/office/drawing/2014/main" id="{8137EB79-CB5C-4F97-93A3-FE7A4FAAE306}"/>
              </a:ext>
            </a:extLst>
          </p:cNvPr>
          <p:cNvSpPr>
            <a:spLocks xmlns:a="http://schemas.openxmlformats.org/drawingml/2006/main" noGrp="1"/>
          </p:cNvSpPr>
          <p:nvPr/>
        </p:nvSpPr>
        <p:spPr>
          <a:xfrm xmlns:a="http://schemas.openxmlformats.org/drawingml/2006/main">
            <a:off x="714375" y="3543300"/>
            <a:ext cx="952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i="0">
                <a:solidFill>
                  <a:srgbClr val="F0B90B"/>
                </a:solidFill>
                <a:latin typeface="Arial"/>
                <a:ea typeface="Arial"/>
                <a:cs typeface="Arial"/>
              </a:defRPr>
            </a:pPr>
            <a:r>
              <a:rPr sz="4350" b="0" i="0">
                <a:solidFill>
                  <a:srgbClr val="F0B90B"/>
                </a:solidFill>
                <a:latin typeface="Arial"/>
                <a:ea typeface="Arial"/>
                <a:cs typeface="Arial"/>
              </a:rPr>
              <a:t>One amount.</a:t>
            </a:r>
          </a:p>
        </p:txBody>
      </p:sp>
      <p:sp>
        <p:nvSpPr>
          <p:cNvPr id="7" name="An expiry. One claim.">
            <a:extLst xmlns:a="http://schemas.openxmlformats.org/drawingml/2006/main">
              <a:ext uri="{FF2B5EF4-FFF2-40B4-BE49-F238E27FC236}">
                <a16:creationId xmlns:a16="http://schemas.microsoft.com/office/drawing/2014/main" id="{BA20DFF4-7658-4831-9036-AC46371356F8}"/>
              </a:ext>
            </a:extLst>
          </p:cNvPr>
          <p:cNvSpPr>
            <a:spLocks xmlns:a="http://schemas.openxmlformats.org/drawingml/2006/main" noGrp="1"/>
          </p:cNvSpPr>
          <p:nvPr/>
        </p:nvSpPr>
        <p:spPr>
          <a:xfrm xmlns:a="http://schemas.openxmlformats.org/drawingml/2006/main">
            <a:off x="714375" y="441960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i="0">
                <a:solidFill>
                  <a:srgbClr val="F5F3E9"/>
                </a:solidFill>
                <a:latin typeface="Arial"/>
                <a:ea typeface="Arial"/>
                <a:cs typeface="Arial"/>
              </a:defRPr>
            </a:pPr>
            <a:r>
              <a:rPr sz="4350" b="0" i="0">
                <a:solidFill>
                  <a:srgbClr val="F5F3E9"/>
                </a:solidFill>
                <a:latin typeface="Arial"/>
                <a:ea typeface="Arial"/>
                <a:cs typeface="Arial"/>
              </a:rPr>
              <a:t>An expiry. One claim.</a:t>
            </a:r>
          </a:p>
        </p:txBody>
      </p:sp>
      <p:sp>
        <p:nvSpPr>
          <p:cNvPr id="8" name="Prefunded in the vault. Enforced by the contract.">
            <a:extLst xmlns:a="http://schemas.openxmlformats.org/drawingml/2006/main">
              <a:ext uri="{FF2B5EF4-FFF2-40B4-BE49-F238E27FC236}">
                <a16:creationId xmlns:a16="http://schemas.microsoft.com/office/drawing/2014/main" id="{DFD1C88D-A4FB-4A24-8D6C-D163BBDA600E}"/>
              </a:ext>
            </a:extLst>
          </p:cNvPr>
          <p:cNvSpPr>
            <a:spLocks xmlns:a="http://schemas.openxmlformats.org/drawingml/2006/main" noGrp="1"/>
          </p:cNvSpPr>
          <p:nvPr/>
        </p:nvSpPr>
        <p:spPr>
          <a:xfrm xmlns:a="http://schemas.openxmlformats.org/drawingml/2006/main">
            <a:off x="733425" y="586740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C5D2C4"/>
                </a:solidFill>
                <a:latin typeface="Arial"/>
                <a:ea typeface="Arial"/>
                <a:cs typeface="Arial"/>
              </a:defRPr>
            </a:pPr>
            <a:r>
              <a:rPr sz="2175" b="0" i="0">
                <a:solidFill>
                  <a:srgbClr val="C5D2C4"/>
                </a:solidFill>
                <a:latin typeface="Arial"/>
                <a:ea typeface="Arial"/>
                <a:cs typeface="Arial"/>
              </a:rPr>
              <a:t>Prefunded in the vault. Enforced by the contract.</a:t>
            </a:r>
          </a:p>
        </p:txBody>
      </p:sp>
    </p:spTree>
    <p:extLst>
      <p:ext uri="{BB962C8B-B14F-4D97-AF65-F5344CB8AC3E}">
        <p14:creationId xmlns:p14="http://schemas.microsoft.com/office/powerpoint/2010/main" val="1160185144"/>
      </p:ext>
    </p:extLst>
  </p:cSld>
</p:sld>
</file>

<file path=ppt/slides/slide4.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ef1c509fe934562"/>
          <a:stretch xmlns:a="http://schemas.openxmlformats.org/drawingml/2006/main"/>
        </p:blipFill>
        <p:spPr>
          <a:xfrm xmlns:a="http://schemas.openxmlformats.org/drawingml/2006/main">
            <a:off x="619125" y="342900"/>
            <a:ext cx="361950" cy="361950"/>
          </a:xfrm>
          <a:prstGeom xmlns:a="http://schemas.openxmlformats.org/drawingml/2006/main" prst="rect">
            <a:avLst/>
          </a:prstGeom>
        </p:spPr>
      </p:pic>
      <p:sp>
        <p:nvSpPr>
          <p:cNvPr id="2" name="liber:Ghost Protocol">
            <a:extLst xmlns:a="http://schemas.openxmlformats.org/drawingml/2006/main">
              <a:ext uri="{FF2B5EF4-FFF2-40B4-BE49-F238E27FC236}">
                <a16:creationId xmlns:a16="http://schemas.microsoft.com/office/drawing/2014/main" id="{7E4469F9-E0C0-4D66-A597-699156D5F873}"/>
              </a:ext>
            </a:extLst>
          </p:cNvPr>
          <p:cNvSpPr>
            <a:spLocks xmlns:a="http://schemas.openxmlformats.org/drawingml/2006/main" noGrp="1"/>
          </p:cNvSpPr>
          <p:nvPr/>
        </p:nvSpPr>
        <p:spPr>
          <a:xfrm xmlns:a="http://schemas.openxmlformats.org/drawingml/2006/main">
            <a:off x="1123950" y="38100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063D2C"/>
                </a:solidFill>
                <a:latin typeface="Georgia"/>
                <a:ea typeface="Georgia"/>
                <a:cs typeface="Georgia"/>
              </a:defRPr>
            </a:pPr>
            <a:r>
              <a:rPr sz="2100" b="0" i="0">
                <a:solidFill>
                  <a:srgbClr val="063D2C"/>
                </a:solidFill>
                <a:latin typeface="Georgia"/>
                <a:ea typeface="Georgia"/>
                <a:cs typeface="Georgia"/>
              </a:rPr>
              <a:t>liber:Ghost Protocol</a:t>
            </a:r>
          </a:p>
        </p:txBody>
      </p:sp>
      <p:sp>
        <p:nvSpPr>
          <p:cNvPr id="3" name="04">
            <a:extLst xmlns:a="http://schemas.openxmlformats.org/drawingml/2006/main">
              <a:ext uri="{FF2B5EF4-FFF2-40B4-BE49-F238E27FC236}">
                <a16:creationId xmlns:a16="http://schemas.microsoft.com/office/drawing/2014/main" id="{553D850B-07EC-4329-AB3A-F5B0F5A5DD23}"/>
              </a:ext>
            </a:extLst>
          </p:cNvPr>
          <p:cNvSpPr>
            <a:spLocks xmlns:a="http://schemas.openxmlformats.org/drawingml/2006/main" noGrp="1"/>
          </p:cNvSpPr>
          <p:nvPr/>
        </p:nvSpPr>
        <p:spPr>
          <a:xfrm xmlns:a="http://schemas.openxmlformats.org/drawingml/2006/main">
            <a:off x="11049000" y="63436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2635B"/>
                </a:solidFill>
                <a:latin typeface="Arial"/>
                <a:ea typeface="Arial"/>
                <a:cs typeface="Arial"/>
              </a:defRPr>
            </a:pPr>
            <a:r>
              <a:rPr sz="1650" b="0" i="0">
                <a:solidFill>
                  <a:srgbClr val="52635B"/>
                </a:solidFill>
                <a:latin typeface="Arial"/>
                <a:ea typeface="Arial"/>
                <a:cs typeface="Arial"/>
              </a:rPr>
              <a:t>04</a:t>
            </a:r>
          </a:p>
        </p:txBody>
      </p:sp>
      <p:sp>
        <p:nvSpPr>
          <p:cNvPr id="4" name="Prepare. Carry. Claim.">
            <a:extLst xmlns:a="http://schemas.openxmlformats.org/drawingml/2006/main">
              <a:ext uri="{FF2B5EF4-FFF2-40B4-BE49-F238E27FC236}">
                <a16:creationId xmlns:a16="http://schemas.microsoft.com/office/drawing/2014/main" id="{4EA07FA8-25C7-4296-B7B8-4BE4EAFC0C9B}"/>
              </a:ext>
            </a:extLst>
          </p:cNvPr>
          <p:cNvSpPr>
            <a:spLocks xmlns:a="http://schemas.openxmlformats.org/drawingml/2006/main" noGrp="1"/>
          </p:cNvSpPr>
          <p:nvPr/>
        </p:nvSpPr>
        <p:spPr>
          <a:xfrm xmlns:a="http://schemas.openxmlformats.org/drawingml/2006/main">
            <a:off x="685800" y="12668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725" b="0" i="0">
                <a:solidFill>
                  <a:srgbClr val="101E1A"/>
                </a:solidFill>
                <a:latin typeface="Georgia"/>
                <a:ea typeface="Georgia"/>
                <a:cs typeface="Georgia"/>
              </a:defRPr>
            </a:pPr>
            <a:r>
              <a:rPr sz="4725" b="0" i="0">
                <a:solidFill>
                  <a:srgbClr val="101E1A"/>
                </a:solidFill>
                <a:latin typeface="Georgia"/>
                <a:ea typeface="Georgia"/>
                <a:cs typeface="Georgia"/>
              </a:rPr>
              <a:t>Prepare. Carry. Claim.</a:t>
            </a:r>
          </a:p>
        </p:txBody>
      </p:sp>
      <p:sp>
        <p:nvSpPr>
          <p:cNvPr id="5" name="01 / BUYER ONLINE">
            <a:extLst xmlns:a="http://schemas.openxmlformats.org/drawingml/2006/main">
              <a:ext uri="{FF2B5EF4-FFF2-40B4-BE49-F238E27FC236}">
                <a16:creationId xmlns:a16="http://schemas.microsoft.com/office/drawing/2014/main" id="{5A022055-BB8C-405F-AA70-197F7249D56B}"/>
              </a:ext>
            </a:extLst>
          </p:cNvPr>
          <p:cNvSpPr>
            <a:spLocks xmlns:a="http://schemas.openxmlformats.org/drawingml/2006/main" noGrp="1"/>
          </p:cNvSpPr>
          <p:nvPr/>
        </p:nvSpPr>
        <p:spPr>
          <a:xfrm xmlns:a="http://schemas.openxmlformats.org/drawingml/2006/main">
            <a:off x="723900" y="2819400"/>
            <a:ext cx="3476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B6B4E"/>
                </a:solidFill>
                <a:latin typeface="Arial"/>
                <a:ea typeface="Arial"/>
                <a:cs typeface="Arial"/>
              </a:defRPr>
            </a:pPr>
            <a:r>
              <a:rPr sz="1650" b="1" i="0">
                <a:solidFill>
                  <a:srgbClr val="0B6B4E"/>
                </a:solidFill>
                <a:latin typeface="Arial"/>
                <a:ea typeface="Arial"/>
                <a:cs typeface="Arial"/>
              </a:rPr>
              <a:t>01 / BUYER ONLINE</a:t>
            </a:r>
          </a:p>
        </p:txBody>
      </p:sp>
      <p:sp>
        <p:nvSpPr>
          <p:cNvPr id="6" name="Sign + reserve">
            <a:extLst xmlns:a="http://schemas.openxmlformats.org/drawingml/2006/main">
              <a:ext uri="{FF2B5EF4-FFF2-40B4-BE49-F238E27FC236}">
                <a16:creationId xmlns:a16="http://schemas.microsoft.com/office/drawing/2014/main" id="{7B01ACD6-120A-49E4-8ABB-685A80A5DC8F}"/>
              </a:ext>
            </a:extLst>
          </p:cNvPr>
          <p:cNvSpPr>
            <a:spLocks xmlns:a="http://schemas.openxmlformats.org/drawingml/2006/main" noGrp="1"/>
          </p:cNvSpPr>
          <p:nvPr/>
        </p:nvSpPr>
        <p:spPr>
          <a:xfrm xmlns:a="http://schemas.openxmlformats.org/drawingml/2006/main">
            <a:off x="723900" y="34766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i="0">
                <a:solidFill>
                  <a:srgbClr val="101E1A"/>
                </a:solidFill>
                <a:latin typeface="Georgia"/>
                <a:ea typeface="Georgia"/>
                <a:cs typeface="Georgia"/>
              </a:defRPr>
            </a:pPr>
            <a:r>
              <a:rPr sz="2850" b="0" i="0">
                <a:solidFill>
                  <a:srgbClr val="101E1A"/>
                </a:solidFill>
                <a:latin typeface="Georgia"/>
                <a:ea typeface="Georgia"/>
                <a:cs typeface="Georgia"/>
              </a:rPr>
              <a:t>Sign + reserve</a:t>
            </a:r>
          </a:p>
        </p:txBody>
      </p:sp>
      <p:sp>
        <p:nvSpPr>
          <p:cNvPr id="7" name="Merchant, amount, expiry">
            <a:extLst xmlns:a="http://schemas.openxmlformats.org/drawingml/2006/main">
              <a:ext uri="{FF2B5EF4-FFF2-40B4-BE49-F238E27FC236}">
                <a16:creationId xmlns:a16="http://schemas.microsoft.com/office/drawing/2014/main" id="{09E74BC3-40AE-4BF2-B36D-B1E9002B59A9}"/>
              </a:ext>
            </a:extLst>
          </p:cNvPr>
          <p:cNvSpPr>
            <a:spLocks xmlns:a="http://schemas.openxmlformats.org/drawingml/2006/main" noGrp="1"/>
          </p:cNvSpPr>
          <p:nvPr/>
        </p:nvSpPr>
        <p:spPr>
          <a:xfrm xmlns:a="http://schemas.openxmlformats.org/drawingml/2006/main">
            <a:off x="723900" y="4295775"/>
            <a:ext cx="3476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52635B"/>
                </a:solidFill>
                <a:latin typeface="Arial"/>
                <a:ea typeface="Arial"/>
                <a:cs typeface="Arial"/>
              </a:defRPr>
            </a:pPr>
            <a:r>
              <a:rPr sz="2025" b="0" i="0">
                <a:solidFill>
                  <a:srgbClr val="52635B"/>
                </a:solidFill>
                <a:latin typeface="Arial"/>
                <a:ea typeface="Arial"/>
                <a:cs typeface="Arial"/>
              </a:rPr>
              <a:t>Merchant, amount, expiry</a:t>
            </a:r>
          </a:p>
        </p:txBody>
      </p:sp>
      <p:sp>
        <p:nvSpPr>
          <p:cNvPr id="8" name="→">
            <a:extLst xmlns:a="http://schemas.openxmlformats.org/drawingml/2006/main">
              <a:ext uri="{FF2B5EF4-FFF2-40B4-BE49-F238E27FC236}">
                <a16:creationId xmlns:a16="http://schemas.microsoft.com/office/drawing/2014/main" id="{A49DF2B6-48A3-4B5A-B079-E72BC52AC32E}"/>
              </a:ext>
            </a:extLst>
          </p:cNvPr>
          <p:cNvSpPr>
            <a:spLocks xmlns:a="http://schemas.openxmlformats.org/drawingml/2006/main" noGrp="1"/>
          </p:cNvSpPr>
          <p:nvPr/>
        </p:nvSpPr>
        <p:spPr>
          <a:xfrm xmlns:a="http://schemas.openxmlformats.org/drawingml/2006/main">
            <a:off x="4086225" y="3514725"/>
            <a:ext cx="523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i="0">
                <a:solidFill>
                  <a:srgbClr val="0B6B4E"/>
                </a:solidFill>
                <a:latin typeface="Arial"/>
                <a:ea typeface="Arial"/>
                <a:cs typeface="Arial"/>
              </a:defRPr>
            </a:pPr>
            <a:r>
              <a:rPr sz="3000" b="0" i="0">
                <a:solidFill>
                  <a:srgbClr val="0B6B4E"/>
                </a:solidFill>
                <a:latin typeface="Arial"/>
                <a:ea typeface="Arial"/>
                <a:cs typeface="Arial"/>
              </a:rPr>
              <a:t>→</a:t>
            </a:r>
          </a:p>
        </p:txBody>
      </p:sp>
      <p:sp>
        <p:nvSpPr>
          <p:cNvPr id="9" name="02 / PRIVATE HANDOVER">
            <a:extLst xmlns:a="http://schemas.openxmlformats.org/drawingml/2006/main">
              <a:ext uri="{FF2B5EF4-FFF2-40B4-BE49-F238E27FC236}">
                <a16:creationId xmlns:a16="http://schemas.microsoft.com/office/drawing/2014/main" id="{94421B5D-EE4D-4CF1-9237-6D55962EBCB1}"/>
              </a:ext>
            </a:extLst>
          </p:cNvPr>
          <p:cNvSpPr>
            <a:spLocks xmlns:a="http://schemas.openxmlformats.org/drawingml/2006/main" noGrp="1"/>
          </p:cNvSpPr>
          <p:nvPr/>
        </p:nvSpPr>
        <p:spPr>
          <a:xfrm xmlns:a="http://schemas.openxmlformats.org/drawingml/2006/main">
            <a:off x="4600575" y="2819400"/>
            <a:ext cx="3476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B6B4E"/>
                </a:solidFill>
                <a:latin typeface="Arial"/>
                <a:ea typeface="Arial"/>
                <a:cs typeface="Arial"/>
              </a:defRPr>
            </a:pPr>
            <a:r>
              <a:rPr sz="1650" b="1" i="0">
                <a:solidFill>
                  <a:srgbClr val="0B6B4E"/>
                </a:solidFill>
                <a:latin typeface="Arial"/>
                <a:ea typeface="Arial"/>
                <a:cs typeface="Arial"/>
              </a:rPr>
              <a:t>02 / PRIVATE HANDOVER</a:t>
            </a:r>
          </a:p>
        </p:txBody>
      </p:sp>
      <p:sp>
        <p:nvSpPr>
          <p:cNvPr id="10" name="Carry the QR">
            <a:extLst xmlns:a="http://schemas.openxmlformats.org/drawingml/2006/main">
              <a:ext uri="{FF2B5EF4-FFF2-40B4-BE49-F238E27FC236}">
                <a16:creationId xmlns:a16="http://schemas.microsoft.com/office/drawing/2014/main" id="{B2BF59AE-7CEC-4B1D-9B0C-68CE270FEF8A}"/>
              </a:ext>
            </a:extLst>
          </p:cNvPr>
          <p:cNvSpPr>
            <a:spLocks xmlns:a="http://schemas.openxmlformats.org/drawingml/2006/main" noGrp="1"/>
          </p:cNvSpPr>
          <p:nvPr/>
        </p:nvSpPr>
        <p:spPr>
          <a:xfrm xmlns:a="http://schemas.openxmlformats.org/drawingml/2006/main">
            <a:off x="4600575" y="34766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i="0">
                <a:solidFill>
                  <a:srgbClr val="101E1A"/>
                </a:solidFill>
                <a:latin typeface="Georgia"/>
                <a:ea typeface="Georgia"/>
                <a:cs typeface="Georgia"/>
              </a:defRPr>
            </a:pPr>
            <a:r>
              <a:rPr sz="2850" b="0" i="0">
                <a:solidFill>
                  <a:srgbClr val="101E1A"/>
                </a:solidFill>
                <a:latin typeface="Georgia"/>
                <a:ea typeface="Georgia"/>
                <a:cs typeface="Georgia"/>
              </a:rPr>
              <a:t>Carry the QR</a:t>
            </a:r>
          </a:p>
        </p:txBody>
      </p:sp>
      <p:sp>
        <p:nvSpPr>
          <p:cNvPr id="11" name="No wallet private key">
            <a:extLst xmlns:a="http://schemas.openxmlformats.org/drawingml/2006/main">
              <a:ext uri="{FF2B5EF4-FFF2-40B4-BE49-F238E27FC236}">
                <a16:creationId xmlns:a16="http://schemas.microsoft.com/office/drawing/2014/main" id="{69165F7C-C522-44DE-ACC4-4206AA8BF7B8}"/>
              </a:ext>
            </a:extLst>
          </p:cNvPr>
          <p:cNvSpPr>
            <a:spLocks xmlns:a="http://schemas.openxmlformats.org/drawingml/2006/main" noGrp="1"/>
          </p:cNvSpPr>
          <p:nvPr/>
        </p:nvSpPr>
        <p:spPr>
          <a:xfrm xmlns:a="http://schemas.openxmlformats.org/drawingml/2006/main">
            <a:off x="4600575" y="4295775"/>
            <a:ext cx="3476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52635B"/>
                </a:solidFill>
                <a:latin typeface="Arial"/>
                <a:ea typeface="Arial"/>
                <a:cs typeface="Arial"/>
              </a:defRPr>
            </a:pPr>
            <a:r>
              <a:rPr sz="2025" b="0" i="0">
                <a:solidFill>
                  <a:srgbClr val="52635B"/>
                </a:solidFill>
                <a:latin typeface="Arial"/>
                <a:ea typeface="Arial"/>
                <a:cs typeface="Arial"/>
              </a:rPr>
              <a:t>No wallet private key</a:t>
            </a:r>
          </a:p>
        </p:txBody>
      </p:sp>
      <p:sp>
        <p:nvSpPr>
          <p:cNvPr id="12" name="→">
            <a:extLst xmlns:a="http://schemas.openxmlformats.org/drawingml/2006/main">
              <a:ext uri="{FF2B5EF4-FFF2-40B4-BE49-F238E27FC236}">
                <a16:creationId xmlns:a16="http://schemas.microsoft.com/office/drawing/2014/main" id="{B8519B01-394D-4414-954A-CA9B768DCF9B}"/>
              </a:ext>
            </a:extLst>
          </p:cNvPr>
          <p:cNvSpPr>
            <a:spLocks xmlns:a="http://schemas.openxmlformats.org/drawingml/2006/main" noGrp="1"/>
          </p:cNvSpPr>
          <p:nvPr/>
        </p:nvSpPr>
        <p:spPr>
          <a:xfrm xmlns:a="http://schemas.openxmlformats.org/drawingml/2006/main">
            <a:off x="7962900" y="3514725"/>
            <a:ext cx="523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i="0">
                <a:solidFill>
                  <a:srgbClr val="0B6B4E"/>
                </a:solidFill>
                <a:latin typeface="Arial"/>
                <a:ea typeface="Arial"/>
                <a:cs typeface="Arial"/>
              </a:defRPr>
            </a:pPr>
            <a:r>
              <a:rPr sz="3000" b="0" i="0">
                <a:solidFill>
                  <a:srgbClr val="0B6B4E"/>
                </a:solidFill>
                <a:latin typeface="Arial"/>
                <a:ea typeface="Arial"/>
                <a:cs typeface="Arial"/>
              </a:rPr>
              <a:t>→</a:t>
            </a:r>
          </a:p>
        </p:txBody>
      </p:sp>
      <p:sp>
        <p:nvSpPr>
          <p:cNvPr id="13" name="03 / MERCHANT ONLINE">
            <a:extLst xmlns:a="http://schemas.openxmlformats.org/drawingml/2006/main">
              <a:ext uri="{FF2B5EF4-FFF2-40B4-BE49-F238E27FC236}">
                <a16:creationId xmlns:a16="http://schemas.microsoft.com/office/drawing/2014/main" id="{90AAF841-8943-468C-8529-A459279246AE}"/>
              </a:ext>
            </a:extLst>
          </p:cNvPr>
          <p:cNvSpPr>
            <a:spLocks xmlns:a="http://schemas.openxmlformats.org/drawingml/2006/main" noGrp="1"/>
          </p:cNvSpPr>
          <p:nvPr/>
        </p:nvSpPr>
        <p:spPr>
          <a:xfrm xmlns:a="http://schemas.openxmlformats.org/drawingml/2006/main">
            <a:off x="8477250" y="2819400"/>
            <a:ext cx="3476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B6B4E"/>
                </a:solidFill>
                <a:latin typeface="Arial"/>
                <a:ea typeface="Arial"/>
                <a:cs typeface="Arial"/>
              </a:defRPr>
            </a:pPr>
            <a:r>
              <a:rPr sz="1650" b="1" i="0">
                <a:solidFill>
                  <a:srgbClr val="0B6B4E"/>
                </a:solidFill>
                <a:latin typeface="Arial"/>
                <a:ea typeface="Arial"/>
                <a:cs typeface="Arial"/>
              </a:rPr>
              <a:t>03 / MERCHANT ONLINE</a:t>
            </a:r>
          </a:p>
        </p:txBody>
      </p:sp>
      <p:sp>
        <p:nvSpPr>
          <p:cNvPr id="14" name="Claim once">
            <a:extLst xmlns:a="http://schemas.openxmlformats.org/drawingml/2006/main">
              <a:ext uri="{FF2B5EF4-FFF2-40B4-BE49-F238E27FC236}">
                <a16:creationId xmlns:a16="http://schemas.microsoft.com/office/drawing/2014/main" id="{C3122AEC-749B-4333-A652-8EE9436A87CE}"/>
              </a:ext>
            </a:extLst>
          </p:cNvPr>
          <p:cNvSpPr>
            <a:spLocks xmlns:a="http://schemas.openxmlformats.org/drawingml/2006/main" noGrp="1"/>
          </p:cNvSpPr>
          <p:nvPr/>
        </p:nvSpPr>
        <p:spPr>
          <a:xfrm xmlns:a="http://schemas.openxmlformats.org/drawingml/2006/main">
            <a:off x="8477250" y="3476625"/>
            <a:ext cx="3476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i="0">
                <a:solidFill>
                  <a:srgbClr val="101E1A"/>
                </a:solidFill>
                <a:latin typeface="Georgia"/>
                <a:ea typeface="Georgia"/>
                <a:cs typeface="Georgia"/>
              </a:defRPr>
            </a:pPr>
            <a:r>
              <a:rPr sz="2850" b="0" i="0">
                <a:solidFill>
                  <a:srgbClr val="101E1A"/>
                </a:solidFill>
                <a:latin typeface="Georgia"/>
                <a:ea typeface="Georgia"/>
                <a:cs typeface="Georgia"/>
              </a:rPr>
              <a:t>Claim once</a:t>
            </a:r>
          </a:p>
        </p:txBody>
      </p:sp>
      <p:sp>
        <p:nvSpPr>
          <p:cNvPr id="15" name="Named wallet + gas">
            <a:extLst xmlns:a="http://schemas.openxmlformats.org/drawingml/2006/main">
              <a:ext uri="{FF2B5EF4-FFF2-40B4-BE49-F238E27FC236}">
                <a16:creationId xmlns:a16="http://schemas.microsoft.com/office/drawing/2014/main" id="{C62249BF-54BE-488B-B03F-BA4204F3468E}"/>
              </a:ext>
            </a:extLst>
          </p:cNvPr>
          <p:cNvSpPr>
            <a:spLocks xmlns:a="http://schemas.openxmlformats.org/drawingml/2006/main" noGrp="1"/>
          </p:cNvSpPr>
          <p:nvPr/>
        </p:nvSpPr>
        <p:spPr>
          <a:xfrm xmlns:a="http://schemas.openxmlformats.org/drawingml/2006/main">
            <a:off x="8477250" y="4295775"/>
            <a:ext cx="3476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52635B"/>
                </a:solidFill>
                <a:latin typeface="Arial"/>
                <a:ea typeface="Arial"/>
                <a:cs typeface="Arial"/>
              </a:defRPr>
            </a:pPr>
            <a:r>
              <a:rPr sz="2025" b="0" i="0">
                <a:solidFill>
                  <a:srgbClr val="52635B"/>
                </a:solidFill>
                <a:latin typeface="Arial"/>
                <a:ea typeface="Arial"/>
                <a:cs typeface="Arial"/>
              </a:rPr>
              <a:t>Named wallet + gas</a:t>
            </a:r>
          </a:p>
        </p:txBody>
      </p:sp>
      <p:sp>
        <p:nvSpPr>
          <p:cNvPr id="16" name="Unused? Owner reclaims at or after expiry.">
            <a:extLst xmlns:a="http://schemas.openxmlformats.org/drawingml/2006/main">
              <a:ext uri="{FF2B5EF4-FFF2-40B4-BE49-F238E27FC236}">
                <a16:creationId xmlns:a16="http://schemas.microsoft.com/office/drawing/2014/main" id="{5C2A9D1B-EDD0-4530-86CF-A28C4615B9CB}"/>
              </a:ext>
            </a:extLst>
          </p:cNvPr>
          <p:cNvSpPr>
            <a:spLocks xmlns:a="http://schemas.openxmlformats.org/drawingml/2006/main" noGrp="1"/>
          </p:cNvSpPr>
          <p:nvPr/>
        </p:nvSpPr>
        <p:spPr>
          <a:xfrm xmlns:a="http://schemas.openxmlformats.org/drawingml/2006/main">
            <a:off x="733425" y="574357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i="0">
                <a:solidFill>
                  <a:srgbClr val="0B6B4E"/>
                </a:solidFill>
                <a:latin typeface="Arial"/>
                <a:ea typeface="Arial"/>
                <a:cs typeface="Arial"/>
              </a:defRPr>
            </a:pPr>
            <a:r>
              <a:rPr sz="2475" b="0" i="0">
                <a:solidFill>
                  <a:srgbClr val="0B6B4E"/>
                </a:solidFill>
                <a:latin typeface="Arial"/>
                <a:ea typeface="Arial"/>
                <a:cs typeface="Arial"/>
              </a:rPr>
              <a:t>Unused? Owner reclaims at or after expiry.</a:t>
            </a:r>
          </a:p>
        </p:txBody>
      </p:sp>
    </p:spTree>
    <p:extLst>
      <p:ext uri="{BB962C8B-B14F-4D97-AF65-F5344CB8AC3E}">
        <p14:creationId xmlns:p14="http://schemas.microsoft.com/office/powerpoint/2010/main" val="625610771"/>
      </p:ext>
    </p:extLst>
  </p:cSld>
</p:sld>
</file>

<file path=ppt/slides/slide5.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29efd4bd3d14096"/>
          <a:stretch xmlns:a="http://schemas.openxmlformats.org/drawingml/2006/main"/>
        </p:blipFill>
        <p:spPr>
          <a:xfrm xmlns:a="http://schemas.openxmlformats.org/drawingml/2006/main">
            <a:off x="619125" y="342900"/>
            <a:ext cx="361950" cy="361950"/>
          </a:xfrm>
          <a:prstGeom xmlns:a="http://schemas.openxmlformats.org/drawingml/2006/main" prst="rect">
            <a:avLst/>
          </a:prstGeom>
        </p:spPr>
      </p:pic>
      <p:sp>
        <p:nvSpPr>
          <p:cNvPr id="2" name="liber:Ghost Protocol">
            <a:extLst xmlns:a="http://schemas.openxmlformats.org/drawingml/2006/main">
              <a:ext uri="{FF2B5EF4-FFF2-40B4-BE49-F238E27FC236}">
                <a16:creationId xmlns:a16="http://schemas.microsoft.com/office/drawing/2014/main" id="{5B3FB791-7A87-411E-81A3-662BD890F5FA}"/>
              </a:ext>
            </a:extLst>
          </p:cNvPr>
          <p:cNvSpPr>
            <a:spLocks xmlns:a="http://schemas.openxmlformats.org/drawingml/2006/main" noGrp="1"/>
          </p:cNvSpPr>
          <p:nvPr/>
        </p:nvSpPr>
        <p:spPr>
          <a:xfrm xmlns:a="http://schemas.openxmlformats.org/drawingml/2006/main">
            <a:off x="1123950" y="38100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063D2C"/>
                </a:solidFill>
                <a:latin typeface="Georgia"/>
                <a:ea typeface="Georgia"/>
                <a:cs typeface="Georgia"/>
              </a:defRPr>
            </a:pPr>
            <a:r>
              <a:rPr sz="2100" b="0" i="0">
                <a:solidFill>
                  <a:srgbClr val="063D2C"/>
                </a:solidFill>
                <a:latin typeface="Georgia"/>
                <a:ea typeface="Georgia"/>
                <a:cs typeface="Georgia"/>
              </a:rPr>
              <a:t>liber:Ghost Protocol</a:t>
            </a:r>
          </a:p>
        </p:txBody>
      </p:sp>
      <p:sp>
        <p:nvSpPr>
          <p:cNvPr id="3" name="05">
            <a:extLst xmlns:a="http://schemas.openxmlformats.org/drawingml/2006/main">
              <a:ext uri="{FF2B5EF4-FFF2-40B4-BE49-F238E27FC236}">
                <a16:creationId xmlns:a16="http://schemas.microsoft.com/office/drawing/2014/main" id="{0AEDB820-6E09-4FE5-AF03-A818AB2CA8DB}"/>
              </a:ext>
            </a:extLst>
          </p:cNvPr>
          <p:cNvSpPr>
            <a:spLocks xmlns:a="http://schemas.openxmlformats.org/drawingml/2006/main" noGrp="1"/>
          </p:cNvSpPr>
          <p:nvPr/>
        </p:nvSpPr>
        <p:spPr>
          <a:xfrm xmlns:a="http://schemas.openxmlformats.org/drawingml/2006/main">
            <a:off x="11049000" y="63436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2635B"/>
                </a:solidFill>
                <a:latin typeface="Arial"/>
                <a:ea typeface="Arial"/>
                <a:cs typeface="Arial"/>
              </a:defRPr>
            </a:pPr>
            <a:r>
              <a:rPr sz="1650" b="0" i="0">
                <a:solidFill>
                  <a:srgbClr val="52635B"/>
                </a:solidFill>
                <a:latin typeface="Arial"/>
                <a:ea typeface="Arial"/>
                <a:cs typeface="Arial"/>
              </a:rPr>
              <a:t>05</a:t>
            </a:r>
          </a:p>
        </p:txBody>
      </p:sp>
      <p:sp>
        <p:nvSpPr>
          <p:cNvPr id="4" name="Review first.">
            <a:extLst xmlns:a="http://schemas.openxmlformats.org/drawingml/2006/main">
              <a:ext uri="{FF2B5EF4-FFF2-40B4-BE49-F238E27FC236}">
                <a16:creationId xmlns:a16="http://schemas.microsoft.com/office/drawing/2014/main" id="{C07B8A07-41EC-4292-BF45-F8EF8DD52DD9}"/>
              </a:ext>
            </a:extLst>
          </p:cNvPr>
          <p:cNvSpPr>
            <a:spLocks xmlns:a="http://schemas.openxmlformats.org/drawingml/2006/main" noGrp="1"/>
          </p:cNvSpPr>
          <p:nvPr/>
        </p:nvSpPr>
        <p:spPr>
          <a:xfrm xmlns:a="http://schemas.openxmlformats.org/drawingml/2006/main">
            <a:off x="695325" y="1457325"/>
            <a:ext cx="4667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0" i="0">
                <a:solidFill>
                  <a:srgbClr val="101E1A"/>
                </a:solidFill>
                <a:latin typeface="Georgia"/>
                <a:ea typeface="Georgia"/>
                <a:cs typeface="Georgia"/>
              </a:defRPr>
            </a:pPr>
            <a:r>
              <a:rPr sz="4275" b="0" i="0">
                <a:solidFill>
                  <a:srgbClr val="101E1A"/>
                </a:solidFill>
                <a:latin typeface="Georgia"/>
                <a:ea typeface="Georgia"/>
                <a:cs typeface="Georgia"/>
              </a:rPr>
              <a:t>Review first.</a:t>
            </a:r>
          </a:p>
          <a:p xmlns:a="http://schemas.openxmlformats.org/drawingml/2006/main">
            <a:pPr algn="l">
              <a:defRPr sz="4275" b="0" i="0">
                <a:solidFill>
                  <a:srgbClr val="101E1A"/>
                </a:solidFill>
                <a:latin typeface="Georgia"/>
                <a:ea typeface="Georgia"/>
                <a:cs typeface="Georgia"/>
              </a:defRPr>
            </a:pPr>
            <a:r>
              <a:rPr sz="4275" b="0" i="0">
                <a:solidFill>
                  <a:srgbClr val="101E1A"/>
                </a:solidFill>
                <a:latin typeface="Georgia"/>
                <a:ea typeface="Georgia"/>
                <a:cs typeface="Georgia"/>
              </a:rPr>
              <a:t>Reserve second.</a:t>
            </a:r>
          </a:p>
        </p:txBody>
      </p:sp>
      <p:sp>
        <p:nvSpPr>
          <p:cNvPr id="5" name="Choose the recipient.">
            <a:extLst xmlns:a="http://schemas.openxmlformats.org/drawingml/2006/main">
              <a:ext uri="{FF2B5EF4-FFF2-40B4-BE49-F238E27FC236}">
                <a16:creationId xmlns:a16="http://schemas.microsoft.com/office/drawing/2014/main" id="{4C8DFA92-5790-4D37-81DA-10F1E503F6AF}"/>
              </a:ext>
            </a:extLst>
          </p:cNvPr>
          <p:cNvSpPr>
            <a:spLocks xmlns:a="http://schemas.openxmlformats.org/drawingml/2006/main" noGrp="1"/>
          </p:cNvSpPr>
          <p:nvPr/>
        </p:nvSpPr>
        <p:spPr>
          <a:xfrm xmlns:a="http://schemas.openxmlformats.org/drawingml/2006/main">
            <a:off x="742950" y="3571875"/>
            <a:ext cx="42862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0B6B4E"/>
                </a:solidFill>
                <a:latin typeface="Arial"/>
                <a:ea typeface="Arial"/>
                <a:cs typeface="Arial"/>
              </a:defRPr>
            </a:pPr>
            <a:r>
              <a:rPr sz="2175" b="0" i="0">
                <a:solidFill>
                  <a:srgbClr val="0B6B4E"/>
                </a:solidFill>
                <a:latin typeface="Arial"/>
                <a:ea typeface="Arial"/>
                <a:cs typeface="Arial"/>
              </a:rPr>
              <a:t>Choose the recipient.</a:t>
            </a:r>
          </a:p>
          <a:p xmlns:a="http://schemas.openxmlformats.org/drawingml/2006/main">
            <a:pPr algn="l">
              <a:defRPr sz="2175" b="0" i="0">
                <a:solidFill>
                  <a:srgbClr val="0B6B4E"/>
                </a:solidFill>
                <a:latin typeface="Arial"/>
                <a:ea typeface="Arial"/>
                <a:cs typeface="Arial"/>
              </a:defRPr>
            </a:pPr>
            <a:r>
              <a:rPr sz="2175" b="0" i="0">
                <a:solidFill>
                  <a:srgbClr val="0B6B4E"/>
                </a:solidFill>
                <a:latin typeface="Arial"/>
                <a:ea typeface="Arial"/>
                <a:cs typeface="Arial"/>
              </a:rPr>
              <a:t>Set the exact amount.</a:t>
            </a:r>
          </a:p>
          <a:p xmlns:a="http://schemas.openxmlformats.org/drawingml/2006/main">
            <a:pPr algn="l">
              <a:defRPr sz="2175" b="0" i="0">
                <a:solidFill>
                  <a:srgbClr val="0B6B4E"/>
                </a:solidFill>
                <a:latin typeface="Arial"/>
                <a:ea typeface="Arial"/>
                <a:cs typeface="Arial"/>
              </a:defRPr>
            </a:pPr>
            <a:r>
              <a:rPr sz="2175" b="0" i="0">
                <a:solidFill>
                  <a:srgbClr val="0B6B4E"/>
                </a:solidFill>
                <a:latin typeface="Arial"/>
                <a:ea typeface="Arial"/>
                <a:cs typeface="Arial"/>
              </a:rPr>
              <a:t>Pick an expiry.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b7f5493ce2644a0"/>
          <a:stretch xmlns:a="http://schemas.openxmlformats.org/drawingml/2006/main"/>
        </p:blipFill>
        <p:spPr>
          <a:xfrm xmlns:a="http://schemas.openxmlformats.org/drawingml/2006/main">
            <a:off x="6311663" y="1762125"/>
            <a:ext cx="4426424" cy="4010025"/>
          </a:xfrm>
          <a:prstGeom xmlns:a="http://schemas.openxmlformats.org/drawingml/2006/main" prst="rect">
            <a:avLst/>
          </a:prstGeom>
        </p:spPr>
      </p:pic>
      <p:sp>
        <p:nvSpPr>
          <p:cNvPr id="7" name="Live UI walkthrough / no new transaction">
            <a:extLst xmlns:a="http://schemas.openxmlformats.org/drawingml/2006/main">
              <a:ext uri="{FF2B5EF4-FFF2-40B4-BE49-F238E27FC236}">
                <a16:creationId xmlns:a16="http://schemas.microsoft.com/office/drawing/2014/main" id="{E648D772-2494-475B-86DF-A58BB1FE6BBE}"/>
              </a:ext>
            </a:extLst>
          </p:cNvPr>
          <p:cNvSpPr>
            <a:spLocks xmlns:a="http://schemas.openxmlformats.org/drawingml/2006/main" noGrp="1"/>
          </p:cNvSpPr>
          <p:nvPr/>
        </p:nvSpPr>
        <p:spPr>
          <a:xfrm xmlns:a="http://schemas.openxmlformats.org/drawingml/2006/main">
            <a:off x="723900" y="616267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52635B"/>
                </a:solidFill>
                <a:latin typeface="Arial"/>
                <a:ea typeface="Arial"/>
                <a:cs typeface="Arial"/>
              </a:defRPr>
            </a:pPr>
            <a:r>
              <a:rPr sz="1800" b="0" i="0">
                <a:solidFill>
                  <a:srgbClr val="52635B"/>
                </a:solidFill>
                <a:latin typeface="Arial"/>
                <a:ea typeface="Arial"/>
                <a:cs typeface="Arial"/>
              </a:rPr>
              <a:t>Live UI walkthrough / no new transaction</a:t>
            </a:r>
          </a:p>
        </p:txBody>
      </p:sp>
    </p:spTree>
    <p:extLst>
      <p:ext uri="{BB962C8B-B14F-4D97-AF65-F5344CB8AC3E}">
        <p14:creationId xmlns:p14="http://schemas.microsoft.com/office/powerpoint/2010/main" val="707824276"/>
      </p:ext>
    </p:extLst>
  </p:cSld>
</p:sld>
</file>

<file path=ppt/slides/slide6.xml><?xml version="1.0" encoding="utf-8"?>
<p:sld xmlns:p="http://schemas.openxmlformats.org/presentationml/2006/main">
  <p:cSld>
    <p:bg>
      <p:bgPr>
        <a:solidFill xmlns:a="http://schemas.openxmlformats.org/drawingml/2006/main">
          <a:srgbClr val="063D2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52e7a6c534e4e78"/>
          <a:stretch xmlns:a="http://schemas.openxmlformats.org/drawingml/2006/main"/>
        </p:blipFill>
        <p:spPr>
          <a:xfrm xmlns:a="http://schemas.openxmlformats.org/drawingml/2006/main">
            <a:off x="619125" y="342900"/>
            <a:ext cx="361950" cy="361950"/>
          </a:xfrm>
          <a:prstGeom xmlns:a="http://schemas.openxmlformats.org/drawingml/2006/main" prst="rect">
            <a:avLst/>
          </a:prstGeom>
        </p:spPr>
      </p:pic>
      <p:sp>
        <p:nvSpPr>
          <p:cNvPr id="2" name="liber:Ghost Protocol">
            <a:extLst xmlns:a="http://schemas.openxmlformats.org/drawingml/2006/main">
              <a:ext uri="{FF2B5EF4-FFF2-40B4-BE49-F238E27FC236}">
                <a16:creationId xmlns:a16="http://schemas.microsoft.com/office/drawing/2014/main" id="{77582213-754B-41B5-A1BE-FC46D3F707CC}"/>
              </a:ext>
            </a:extLst>
          </p:cNvPr>
          <p:cNvSpPr>
            <a:spLocks xmlns:a="http://schemas.openxmlformats.org/drawingml/2006/main" noGrp="1"/>
          </p:cNvSpPr>
          <p:nvPr/>
        </p:nvSpPr>
        <p:spPr>
          <a:xfrm xmlns:a="http://schemas.openxmlformats.org/drawingml/2006/main">
            <a:off x="1123950" y="38100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F5F3E9"/>
                </a:solidFill>
                <a:latin typeface="Georgia"/>
                <a:ea typeface="Georgia"/>
                <a:cs typeface="Georgia"/>
              </a:defRPr>
            </a:pPr>
            <a:r>
              <a:rPr sz="2100" b="0" i="0">
                <a:solidFill>
                  <a:srgbClr val="F5F3E9"/>
                </a:solidFill>
                <a:latin typeface="Georgia"/>
                <a:ea typeface="Georgia"/>
                <a:cs typeface="Georgia"/>
              </a:rPr>
              <a:t>liber:Ghost Protocol</a:t>
            </a:r>
          </a:p>
        </p:txBody>
      </p:sp>
      <p:sp>
        <p:nvSpPr>
          <p:cNvPr id="3" name="06">
            <a:extLst xmlns:a="http://schemas.openxmlformats.org/drawingml/2006/main">
              <a:ext uri="{FF2B5EF4-FFF2-40B4-BE49-F238E27FC236}">
                <a16:creationId xmlns:a16="http://schemas.microsoft.com/office/drawing/2014/main" id="{69E6F378-B58B-4DB4-9F08-B591AC770279}"/>
              </a:ext>
            </a:extLst>
          </p:cNvPr>
          <p:cNvSpPr>
            <a:spLocks xmlns:a="http://schemas.openxmlformats.org/drawingml/2006/main" noGrp="1"/>
          </p:cNvSpPr>
          <p:nvPr/>
        </p:nvSpPr>
        <p:spPr>
          <a:xfrm xmlns:a="http://schemas.openxmlformats.org/drawingml/2006/main">
            <a:off x="11049000" y="63436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C5D2C4"/>
                </a:solidFill>
                <a:latin typeface="Arial"/>
                <a:ea typeface="Arial"/>
                <a:cs typeface="Arial"/>
              </a:defRPr>
            </a:pPr>
            <a:r>
              <a:rPr sz="1650" b="0" i="0">
                <a:solidFill>
                  <a:srgbClr val="C5D2C4"/>
                </a:solidFill>
                <a:latin typeface="Arial"/>
                <a:ea typeface="Arial"/>
                <a:cs typeface="Arial"/>
              </a:rPr>
              <a:t>06</a:t>
            </a:r>
          </a:p>
        </p:txBody>
      </p:sp>
      <p:sp>
        <p:nvSpPr>
          <p:cNvPr id="4" name="The paper has boundaries.">
            <a:extLst xmlns:a="http://schemas.openxmlformats.org/drawingml/2006/main">
              <a:ext uri="{FF2B5EF4-FFF2-40B4-BE49-F238E27FC236}">
                <a16:creationId xmlns:a16="http://schemas.microsoft.com/office/drawing/2014/main" id="{68F82A1E-822A-4363-8D6D-3B350F779583}"/>
              </a:ext>
            </a:extLst>
          </p:cNvPr>
          <p:cNvSpPr>
            <a:spLocks xmlns:a="http://schemas.openxmlformats.org/drawingml/2006/main" noGrp="1"/>
          </p:cNvSpPr>
          <p:nvPr/>
        </p:nvSpPr>
        <p:spPr>
          <a:xfrm xmlns:a="http://schemas.openxmlformats.org/drawingml/2006/main">
            <a:off x="695325" y="1285875"/>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0" i="0">
                <a:solidFill>
                  <a:srgbClr val="F5F3E9"/>
                </a:solidFill>
                <a:latin typeface="Georgia"/>
                <a:ea typeface="Georgia"/>
                <a:cs typeface="Georgia"/>
              </a:defRPr>
            </a:pPr>
            <a:r>
              <a:rPr sz="4425" b="0" i="0">
                <a:solidFill>
                  <a:srgbClr val="F5F3E9"/>
                </a:solidFill>
                <a:latin typeface="Georgia"/>
                <a:ea typeface="Georgia"/>
                <a:cs typeface="Georgia"/>
              </a:rPr>
              <a:t>The paper has boundaries.</a:t>
            </a:r>
          </a:p>
        </p:txBody>
      </p:sp>
      <p:sp>
        <p:nvSpPr>
          <p:cNvPr id="5" name="Wrong merchant → rejected">
            <a:extLst xmlns:a="http://schemas.openxmlformats.org/drawingml/2006/main">
              <a:ext uri="{FF2B5EF4-FFF2-40B4-BE49-F238E27FC236}">
                <a16:creationId xmlns:a16="http://schemas.microsoft.com/office/drawing/2014/main" id="{8D5C8C70-3A40-4DDA-9944-C317E17457C4}"/>
              </a:ext>
            </a:extLst>
          </p:cNvPr>
          <p:cNvSpPr>
            <a:spLocks xmlns:a="http://schemas.openxmlformats.org/drawingml/2006/main" noGrp="1"/>
          </p:cNvSpPr>
          <p:nvPr/>
        </p:nvSpPr>
        <p:spPr>
          <a:xfrm xmlns:a="http://schemas.openxmlformats.org/drawingml/2006/main">
            <a:off x="733425" y="2667000"/>
            <a:ext cx="1047750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i="0">
                <a:solidFill>
                  <a:srgbClr val="F5F3E9"/>
                </a:solidFill>
                <a:latin typeface="Arial"/>
                <a:ea typeface="Arial"/>
                <a:cs typeface="Arial"/>
              </a:defRPr>
            </a:pPr>
            <a:r>
              <a:rPr sz="3225" b="0" i="0">
                <a:solidFill>
                  <a:srgbClr val="F5F3E9"/>
                </a:solidFill>
                <a:latin typeface="Arial"/>
                <a:ea typeface="Arial"/>
                <a:cs typeface="Arial"/>
              </a:rPr>
              <a:t>Wrong merchant → rejected</a:t>
            </a:r>
          </a:p>
          <a:p xmlns:a="http://schemas.openxmlformats.org/drawingml/2006/main">
            <a:pPr algn="l">
              <a:defRPr sz="3225" b="0" i="0">
                <a:solidFill>
                  <a:srgbClr val="F5F3E9"/>
                </a:solidFill>
                <a:latin typeface="Arial"/>
                <a:ea typeface="Arial"/>
                <a:cs typeface="Arial"/>
              </a:defRPr>
            </a:pPr>
            <a:r>
              <a:rPr sz="3225" b="0" i="0">
                <a:solidFill>
                  <a:srgbClr val="F5F3E9"/>
                </a:solidFill>
                <a:latin typeface="Arial"/>
                <a:ea typeface="Arial"/>
                <a:cs typeface="Arial"/>
              </a:rPr>
              <a:t>Already used → rejected</a:t>
            </a:r>
          </a:p>
          <a:p xmlns:a="http://schemas.openxmlformats.org/drawingml/2006/main">
            <a:pPr algn="l">
              <a:defRPr sz="3225" b="0" i="0">
                <a:solidFill>
                  <a:srgbClr val="F5F3E9"/>
                </a:solidFill>
                <a:latin typeface="Arial"/>
                <a:ea typeface="Arial"/>
                <a:cs typeface="Arial"/>
              </a:defRPr>
            </a:pPr>
            <a:r>
              <a:rPr sz="3225" b="0" i="0">
                <a:solidFill>
                  <a:srgbClr val="F5F3E9"/>
                </a:solidFill>
                <a:latin typeface="Arial"/>
                <a:ea typeface="Arial"/>
                <a:cs typeface="Arial"/>
              </a:rPr>
              <a:t>Too early to reclaim → rejected</a:t>
            </a:r>
          </a:p>
        </p:txBody>
      </p:sp>
      <p:sp>
        <p:nvSpPr>
          <p:cNvPr id="6" name="No admin withdrawal. No upgrade path.">
            <a:extLst xmlns:a="http://schemas.openxmlformats.org/drawingml/2006/main">
              <a:ext uri="{FF2B5EF4-FFF2-40B4-BE49-F238E27FC236}">
                <a16:creationId xmlns:a16="http://schemas.microsoft.com/office/drawing/2014/main" id="{199B619B-2FC3-4447-BDE9-86EB4C787153}"/>
              </a:ext>
            </a:extLst>
          </p:cNvPr>
          <p:cNvSpPr>
            <a:spLocks xmlns:a="http://schemas.openxmlformats.org/drawingml/2006/main" noGrp="1"/>
          </p:cNvSpPr>
          <p:nvPr/>
        </p:nvSpPr>
        <p:spPr>
          <a:xfrm xmlns:a="http://schemas.openxmlformats.org/drawingml/2006/main">
            <a:off x="733425" y="52578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i="0">
                <a:solidFill>
                  <a:srgbClr val="F0B90B"/>
                </a:solidFill>
                <a:latin typeface="Arial"/>
                <a:ea typeface="Arial"/>
                <a:cs typeface="Arial"/>
              </a:defRPr>
            </a:pPr>
            <a:r>
              <a:rPr sz="2475" b="0" i="0">
                <a:solidFill>
                  <a:srgbClr val="F0B90B"/>
                </a:solidFill>
                <a:latin typeface="Arial"/>
                <a:ea typeface="Arial"/>
                <a:cs typeface="Arial"/>
              </a:rPr>
              <a:t>No admin withdrawal. No upgrade path.</a:t>
            </a:r>
          </a:p>
        </p:txBody>
      </p:sp>
      <p:sp>
        <p:nvSpPr>
          <p:cNvPr id="7" name="Share active codes privately. Delivery is outside the contract.">
            <a:extLst xmlns:a="http://schemas.openxmlformats.org/drawingml/2006/main">
              <a:ext uri="{FF2B5EF4-FFF2-40B4-BE49-F238E27FC236}">
                <a16:creationId xmlns:a16="http://schemas.microsoft.com/office/drawing/2014/main" id="{185CC2D0-E37B-4763-A65F-79F235C77EF7}"/>
              </a:ext>
            </a:extLst>
          </p:cNvPr>
          <p:cNvSpPr>
            <a:spLocks xmlns:a="http://schemas.openxmlformats.org/drawingml/2006/main" noGrp="1"/>
          </p:cNvSpPr>
          <p:nvPr/>
        </p:nvSpPr>
        <p:spPr>
          <a:xfrm xmlns:a="http://schemas.openxmlformats.org/drawingml/2006/main">
            <a:off x="733425" y="60483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C5D2C4"/>
                </a:solidFill>
                <a:latin typeface="Arial"/>
                <a:ea typeface="Arial"/>
                <a:cs typeface="Arial"/>
              </a:defRPr>
            </a:pPr>
            <a:r>
              <a:rPr sz="1950" b="0" i="0">
                <a:solidFill>
                  <a:srgbClr val="C5D2C4"/>
                </a:solidFill>
                <a:latin typeface="Arial"/>
                <a:ea typeface="Arial"/>
                <a:cs typeface="Arial"/>
              </a:rPr>
              <a:t>Share active codes privately. Delivery is outside the contract.</a:t>
            </a:r>
          </a:p>
        </p:txBody>
      </p:sp>
    </p:spTree>
    <p:extLst>
      <p:ext uri="{BB962C8B-B14F-4D97-AF65-F5344CB8AC3E}">
        <p14:creationId xmlns:p14="http://schemas.microsoft.com/office/powerpoint/2010/main" val="937832816"/>
      </p:ext>
    </p:extLst>
  </p:cSld>
</p:sld>
</file>

<file path=ppt/slides/slide7.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60ff43e3baa420a"/>
          <a:stretch xmlns:a="http://schemas.openxmlformats.org/drawingml/2006/main"/>
        </p:blipFill>
        <p:spPr>
          <a:xfrm xmlns:a="http://schemas.openxmlformats.org/drawingml/2006/main">
            <a:off x="619125" y="342900"/>
            <a:ext cx="361950" cy="361950"/>
          </a:xfrm>
          <a:prstGeom xmlns:a="http://schemas.openxmlformats.org/drawingml/2006/main" prst="rect">
            <a:avLst/>
          </a:prstGeom>
        </p:spPr>
      </p:pic>
      <p:sp>
        <p:nvSpPr>
          <p:cNvPr id="2" name="liber:Ghost Protocol">
            <a:extLst xmlns:a="http://schemas.openxmlformats.org/drawingml/2006/main">
              <a:ext uri="{FF2B5EF4-FFF2-40B4-BE49-F238E27FC236}">
                <a16:creationId xmlns:a16="http://schemas.microsoft.com/office/drawing/2014/main" id="{FAF86CDA-D437-4214-8CD6-8D644657AF17}"/>
              </a:ext>
            </a:extLst>
          </p:cNvPr>
          <p:cNvSpPr>
            <a:spLocks xmlns:a="http://schemas.openxmlformats.org/drawingml/2006/main" noGrp="1"/>
          </p:cNvSpPr>
          <p:nvPr/>
        </p:nvSpPr>
        <p:spPr>
          <a:xfrm xmlns:a="http://schemas.openxmlformats.org/drawingml/2006/main">
            <a:off x="1123950" y="38100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063D2C"/>
                </a:solidFill>
                <a:latin typeface="Georgia"/>
                <a:ea typeface="Georgia"/>
                <a:cs typeface="Georgia"/>
              </a:defRPr>
            </a:pPr>
            <a:r>
              <a:rPr sz="2100" b="0" i="0">
                <a:solidFill>
                  <a:srgbClr val="063D2C"/>
                </a:solidFill>
                <a:latin typeface="Georgia"/>
                <a:ea typeface="Georgia"/>
                <a:cs typeface="Georgia"/>
              </a:rPr>
              <a:t>liber:Ghost Protocol</a:t>
            </a:r>
          </a:p>
        </p:txBody>
      </p:sp>
      <p:sp>
        <p:nvSpPr>
          <p:cNvPr id="3" name="07">
            <a:extLst xmlns:a="http://schemas.openxmlformats.org/drawingml/2006/main">
              <a:ext uri="{FF2B5EF4-FFF2-40B4-BE49-F238E27FC236}">
                <a16:creationId xmlns:a16="http://schemas.microsoft.com/office/drawing/2014/main" id="{20ED7038-D91A-4733-9AD2-4ED292465739}"/>
              </a:ext>
            </a:extLst>
          </p:cNvPr>
          <p:cNvSpPr>
            <a:spLocks xmlns:a="http://schemas.openxmlformats.org/drawingml/2006/main" noGrp="1"/>
          </p:cNvSpPr>
          <p:nvPr/>
        </p:nvSpPr>
        <p:spPr>
          <a:xfrm xmlns:a="http://schemas.openxmlformats.org/drawingml/2006/main">
            <a:off x="11049000" y="63436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2635B"/>
                </a:solidFill>
                <a:latin typeface="Arial"/>
                <a:ea typeface="Arial"/>
                <a:cs typeface="Arial"/>
              </a:defRPr>
            </a:pPr>
            <a:r>
              <a:rPr sz="1650" b="0" i="0">
                <a:solidFill>
                  <a:srgbClr val="52635B"/>
                </a:solidFill>
                <a:latin typeface="Arial"/>
                <a:ea typeface="Arial"/>
                <a:cs typeface="Arial"/>
              </a:rPr>
              <a:t>07</a:t>
            </a:r>
          </a:p>
        </p:txBody>
      </p:sp>
      <p:sp>
        <p:nvSpPr>
          <p:cNvPr id="4" name="Inspect the paper trail.">
            <a:extLst xmlns:a="http://schemas.openxmlformats.org/drawingml/2006/main">
              <a:ext uri="{FF2B5EF4-FFF2-40B4-BE49-F238E27FC236}">
                <a16:creationId xmlns:a16="http://schemas.microsoft.com/office/drawing/2014/main" id="{30412A5D-A012-45D0-9832-31865A267AE2}"/>
              </a:ext>
            </a:extLst>
          </p:cNvPr>
          <p:cNvSpPr>
            <a:spLocks xmlns:a="http://schemas.openxmlformats.org/drawingml/2006/main" noGrp="1"/>
          </p:cNvSpPr>
          <p:nvPr/>
        </p:nvSpPr>
        <p:spPr>
          <a:xfrm xmlns:a="http://schemas.openxmlformats.org/drawingml/2006/main">
            <a:off x="695325" y="120015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0" i="0">
                <a:solidFill>
                  <a:srgbClr val="101E1A"/>
                </a:solidFill>
                <a:latin typeface="Georgia"/>
                <a:ea typeface="Georgia"/>
                <a:cs typeface="Georgia"/>
              </a:defRPr>
            </a:pPr>
            <a:r>
              <a:rPr sz="4350" b="0" i="0">
                <a:solidFill>
                  <a:srgbClr val="101E1A"/>
                </a:solidFill>
                <a:latin typeface="Georgia"/>
                <a:ea typeface="Georgia"/>
                <a:cs typeface="Georgia"/>
              </a:rPr>
              <a:t>Inspect the paper trail.</a:t>
            </a:r>
          </a:p>
        </p:txBody>
      </p:sp>
      <p:sp>
        <p:nvSpPr>
          <p:cNvPr id="5" name="5 MockUSDC">
            <a:extLst xmlns:a="http://schemas.openxmlformats.org/drawingml/2006/main">
              <a:ext uri="{FF2B5EF4-FFF2-40B4-BE49-F238E27FC236}">
                <a16:creationId xmlns:a16="http://schemas.microsoft.com/office/drawing/2014/main" id="{E3DFF5A1-9134-499C-80D7-04CFAE978CA3}"/>
              </a:ext>
            </a:extLst>
          </p:cNvPr>
          <p:cNvSpPr>
            <a:spLocks xmlns:a="http://schemas.openxmlformats.org/drawingml/2006/main" noGrp="1"/>
          </p:cNvSpPr>
          <p:nvPr/>
        </p:nvSpPr>
        <p:spPr>
          <a:xfrm xmlns:a="http://schemas.openxmlformats.org/drawingml/2006/main">
            <a:off x="723900" y="2438400"/>
            <a:ext cx="4810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75" b="0" i="0">
                <a:solidFill>
                  <a:srgbClr val="0B6B4E"/>
                </a:solidFill>
                <a:latin typeface="Georgia"/>
                <a:ea typeface="Georgia"/>
                <a:cs typeface="Georgia"/>
              </a:defRPr>
            </a:pPr>
            <a:r>
              <a:rPr sz="4875" b="0" i="0">
                <a:solidFill>
                  <a:srgbClr val="0B6B4E"/>
                </a:solidFill>
                <a:latin typeface="Georgia"/>
                <a:ea typeface="Georgia"/>
                <a:cs typeface="Georgia"/>
              </a:rPr>
              <a:t>5 MockUSDC</a:t>
            </a:r>
          </a:p>
        </p:txBody>
      </p:sp>
      <p:sp>
        <p:nvSpPr>
          <p:cNvPr id="6" name="Claimed by the named merchant.">
            <a:extLst xmlns:a="http://schemas.openxmlformats.org/drawingml/2006/main">
              <a:ext uri="{FF2B5EF4-FFF2-40B4-BE49-F238E27FC236}">
                <a16:creationId xmlns:a16="http://schemas.microsoft.com/office/drawing/2014/main" id="{9AE65DF9-0452-43D3-AF23-1855330C6E50}"/>
              </a:ext>
            </a:extLst>
          </p:cNvPr>
          <p:cNvSpPr>
            <a:spLocks xmlns:a="http://schemas.openxmlformats.org/drawingml/2006/main" noGrp="1"/>
          </p:cNvSpPr>
          <p:nvPr/>
        </p:nvSpPr>
        <p:spPr>
          <a:xfrm xmlns:a="http://schemas.openxmlformats.org/drawingml/2006/main">
            <a:off x="742950" y="33242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101E1A"/>
                </a:solidFill>
                <a:latin typeface="Arial"/>
                <a:ea typeface="Arial"/>
                <a:cs typeface="Arial"/>
              </a:defRPr>
            </a:pPr>
            <a:r>
              <a:rPr sz="2100" b="0" i="0">
                <a:solidFill>
                  <a:srgbClr val="101E1A"/>
                </a:solidFill>
                <a:latin typeface="Arial"/>
                <a:ea typeface="Arial"/>
                <a:cs typeface="Arial"/>
              </a:rPr>
              <a:t>Claimed by the named merchant.</a:t>
            </a:r>
          </a:p>
        </p:txBody>
      </p:sp>
      <p:sp>
        <p:nvSpPr>
          <p:cNvPr id="7" name="Open payment proof ↗">
            <a:extLst xmlns:a="http://schemas.openxmlformats.org/drawingml/2006/main">
              <a:ext uri="{FF2B5EF4-FFF2-40B4-BE49-F238E27FC236}">
                <a16:creationId xmlns:a16="http://schemas.microsoft.com/office/drawing/2014/main" id="{CF155B42-3E5A-477B-82B4-C590E3F270C4}"/>
              </a:ext>
            </a:extLst>
          </p:cNvPr>
          <p:cNvSpPr>
            <a:spLocks xmlns:a="http://schemas.openxmlformats.org/drawingml/2006/main" noGrp="1"/>
          </p:cNvSpPr>
          <p:nvPr/>
        </p:nvSpPr>
        <p:spPr>
          <a:xfrm xmlns:a="http://schemas.openxmlformats.org/drawingml/2006/main">
            <a:off x="742950" y="40576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0B6B4E"/>
                </a:solidFill>
                <a:latin typeface="Arial"/>
                <a:ea typeface="Arial"/>
                <a:cs typeface="Arial"/>
              </a:defRPr>
            </a:pPr>
            <a:r>
              <a:rPr sz="2025" b="0" i="0">
                <a:solidFill>
                  <a:srgbClr val="0B6B4E"/>
                </a:solidFill>
                <a:latin typeface="Arial"/>
                <a:ea typeface="Arial"/>
                <a:cs typeface="Arial"/>
                <a:hlinkClick xmlns:r="http://schemas.openxmlformats.org/officeDocument/2006/relationships" r:id="R97382135557843fa"/>
              </a:rPr>
              <a:t>Open payment proof ↗</a:t>
            </a:r>
          </a:p>
        </p:txBody>
      </p:sp>
      <p:sp>
        <p:nvSpPr>
          <p:cNvPr id="8" name="2 MockUSDC">
            <a:extLst xmlns:a="http://schemas.openxmlformats.org/drawingml/2006/main">
              <a:ext uri="{FF2B5EF4-FFF2-40B4-BE49-F238E27FC236}">
                <a16:creationId xmlns:a16="http://schemas.microsoft.com/office/drawing/2014/main" id="{4C4D2E6E-D7BC-4661-A694-02E44758A716}"/>
              </a:ext>
            </a:extLst>
          </p:cNvPr>
          <p:cNvSpPr>
            <a:spLocks xmlns:a="http://schemas.openxmlformats.org/drawingml/2006/main" noGrp="1"/>
          </p:cNvSpPr>
          <p:nvPr/>
        </p:nvSpPr>
        <p:spPr>
          <a:xfrm xmlns:a="http://schemas.openxmlformats.org/drawingml/2006/main">
            <a:off x="6372225" y="243840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75" b="0" i="0">
                <a:solidFill>
                  <a:srgbClr val="0B6B4E"/>
                </a:solidFill>
                <a:latin typeface="Georgia"/>
                <a:ea typeface="Georgia"/>
                <a:cs typeface="Georgia"/>
              </a:defRPr>
            </a:pPr>
            <a:r>
              <a:rPr sz="4875" b="0" i="0">
                <a:solidFill>
                  <a:srgbClr val="0B6B4E"/>
                </a:solidFill>
                <a:latin typeface="Georgia"/>
                <a:ea typeface="Georgia"/>
                <a:cs typeface="Georgia"/>
              </a:rPr>
              <a:t>2 MockUSDC</a:t>
            </a:r>
          </a:p>
        </p:txBody>
      </p:sp>
      <p:sp>
        <p:nvSpPr>
          <p:cNvPr id="9" name="Returned after expiry.">
            <a:extLst xmlns:a="http://schemas.openxmlformats.org/drawingml/2006/main">
              <a:ext uri="{FF2B5EF4-FFF2-40B4-BE49-F238E27FC236}">
                <a16:creationId xmlns:a16="http://schemas.microsoft.com/office/drawing/2014/main" id="{DD019C10-E0FD-4FE0-8573-70A700B09829}"/>
              </a:ext>
            </a:extLst>
          </p:cNvPr>
          <p:cNvSpPr>
            <a:spLocks xmlns:a="http://schemas.openxmlformats.org/drawingml/2006/main" noGrp="1"/>
          </p:cNvSpPr>
          <p:nvPr/>
        </p:nvSpPr>
        <p:spPr>
          <a:xfrm xmlns:a="http://schemas.openxmlformats.org/drawingml/2006/main">
            <a:off x="6419850" y="33242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101E1A"/>
                </a:solidFill>
                <a:latin typeface="Arial"/>
                <a:ea typeface="Arial"/>
                <a:cs typeface="Arial"/>
              </a:defRPr>
            </a:pPr>
            <a:r>
              <a:rPr sz="2100" b="0" i="0">
                <a:solidFill>
                  <a:srgbClr val="101E1A"/>
                </a:solidFill>
                <a:latin typeface="Arial"/>
                <a:ea typeface="Arial"/>
                <a:cs typeface="Arial"/>
              </a:rPr>
              <a:t>Returned after expiry.</a:t>
            </a:r>
          </a:p>
        </p:txBody>
      </p:sp>
      <p:sp>
        <p:nvSpPr>
          <p:cNvPr id="10" name="Open reclaim proof ↗">
            <a:extLst xmlns:a="http://schemas.openxmlformats.org/drawingml/2006/main">
              <a:ext uri="{FF2B5EF4-FFF2-40B4-BE49-F238E27FC236}">
                <a16:creationId xmlns:a16="http://schemas.microsoft.com/office/drawing/2014/main" id="{D7A32141-2B62-43E0-8AD2-1A2C2413264E}"/>
              </a:ext>
            </a:extLst>
          </p:cNvPr>
          <p:cNvSpPr>
            <a:spLocks xmlns:a="http://schemas.openxmlformats.org/drawingml/2006/main" noGrp="1"/>
          </p:cNvSpPr>
          <p:nvPr/>
        </p:nvSpPr>
        <p:spPr>
          <a:xfrm xmlns:a="http://schemas.openxmlformats.org/drawingml/2006/main">
            <a:off x="6419850" y="40576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0B6B4E"/>
                </a:solidFill>
                <a:latin typeface="Arial"/>
                <a:ea typeface="Arial"/>
                <a:cs typeface="Arial"/>
              </a:defRPr>
            </a:pPr>
            <a:r>
              <a:rPr sz="2025" b="0" i="0">
                <a:solidFill>
                  <a:srgbClr val="0B6B4E"/>
                </a:solidFill>
                <a:latin typeface="Arial"/>
                <a:ea typeface="Arial"/>
                <a:cs typeface="Arial"/>
                <a:hlinkClick xmlns:r="http://schemas.openxmlformats.org/officeDocument/2006/relationships" r:id="R3f9a3a42ffbe4ec6"/>
              </a:rPr>
              <a:t>Open reclaim proof ↗</a:t>
            </a:r>
          </a:p>
        </p:txBody>
      </p:sp>
      <p:sp>
        <p:nvSpPr>
          <p:cNvPr id="11" name="171 automated tests / 12 hosted API checks">
            <a:extLst xmlns:a="http://schemas.openxmlformats.org/drawingml/2006/main">
              <a:ext uri="{FF2B5EF4-FFF2-40B4-BE49-F238E27FC236}">
                <a16:creationId xmlns:a16="http://schemas.microsoft.com/office/drawing/2014/main" id="{99CC73A7-93BE-4704-B964-69E8569B04DB}"/>
              </a:ext>
            </a:extLst>
          </p:cNvPr>
          <p:cNvSpPr>
            <a:spLocks xmlns:a="http://schemas.openxmlformats.org/drawingml/2006/main" noGrp="1"/>
          </p:cNvSpPr>
          <p:nvPr/>
        </p:nvSpPr>
        <p:spPr>
          <a:xfrm xmlns:a="http://schemas.openxmlformats.org/drawingml/2006/main">
            <a:off x="742950" y="5476875"/>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101E1A"/>
                </a:solidFill>
                <a:latin typeface="Arial"/>
                <a:ea typeface="Arial"/>
                <a:cs typeface="Arial"/>
              </a:defRPr>
            </a:pPr>
            <a:r>
              <a:rPr sz="2400" b="1" i="0">
                <a:solidFill>
                  <a:srgbClr val="101E1A"/>
                </a:solidFill>
                <a:latin typeface="Arial"/>
                <a:ea typeface="Arial"/>
                <a:cs typeface="Arial"/>
              </a:rPr>
              <a:t>171 automated tests / 12 hosted API checks</a:t>
            </a:r>
          </a:p>
        </p:txBody>
      </p:sp>
      <p:sp>
        <p:nvSpPr>
          <p:cNvPr id="12" name="Recorded testnet evidence. No cash value.">
            <a:extLst xmlns:a="http://schemas.openxmlformats.org/drawingml/2006/main">
              <a:ext uri="{FF2B5EF4-FFF2-40B4-BE49-F238E27FC236}">
                <a16:creationId xmlns:a16="http://schemas.microsoft.com/office/drawing/2014/main" id="{9FF6F367-7B8F-42F4-A3C9-2FA90495DA20}"/>
              </a:ext>
            </a:extLst>
          </p:cNvPr>
          <p:cNvSpPr>
            <a:spLocks xmlns:a="http://schemas.openxmlformats.org/drawingml/2006/main" noGrp="1"/>
          </p:cNvSpPr>
          <p:nvPr/>
        </p:nvSpPr>
        <p:spPr>
          <a:xfrm xmlns:a="http://schemas.openxmlformats.org/drawingml/2006/main">
            <a:off x="742950" y="62007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52635B"/>
                </a:solidFill>
                <a:latin typeface="Arial"/>
                <a:ea typeface="Arial"/>
                <a:cs typeface="Arial"/>
              </a:defRPr>
            </a:pPr>
            <a:r>
              <a:rPr sz="1800" b="0" i="0">
                <a:solidFill>
                  <a:srgbClr val="52635B"/>
                </a:solidFill>
                <a:latin typeface="Arial"/>
                <a:ea typeface="Arial"/>
                <a:cs typeface="Arial"/>
              </a:rPr>
              <a:t>Recorded testnet evidence. No cash value.</a:t>
            </a:r>
          </a:p>
        </p:txBody>
      </p:sp>
    </p:spTree>
    <p:extLst>
      <p:ext uri="{BB962C8B-B14F-4D97-AF65-F5344CB8AC3E}">
        <p14:creationId xmlns:p14="http://schemas.microsoft.com/office/powerpoint/2010/main" val="258822181"/>
      </p:ext>
    </p:extLst>
  </p:cSld>
</p:sld>
</file>

<file path=ppt/slides/slide8.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fbd5335bb5c404e"/>
          <a:stretch xmlns:a="http://schemas.openxmlformats.org/drawingml/2006/main"/>
        </p:blipFill>
        <p:spPr>
          <a:xfrm xmlns:a="http://schemas.openxmlformats.org/drawingml/2006/main">
            <a:off x="619125" y="342900"/>
            <a:ext cx="361950" cy="361950"/>
          </a:xfrm>
          <a:prstGeom xmlns:a="http://schemas.openxmlformats.org/drawingml/2006/main" prst="rect">
            <a:avLst/>
          </a:prstGeom>
        </p:spPr>
      </p:pic>
      <p:sp>
        <p:nvSpPr>
          <p:cNvPr id="2" name="liber:Ghost Protocol">
            <a:extLst xmlns:a="http://schemas.openxmlformats.org/drawingml/2006/main">
              <a:ext uri="{FF2B5EF4-FFF2-40B4-BE49-F238E27FC236}">
                <a16:creationId xmlns:a16="http://schemas.microsoft.com/office/drawing/2014/main" id="{A8BA90B7-1D1F-4C42-836F-B05CB29E18AB}"/>
              </a:ext>
            </a:extLst>
          </p:cNvPr>
          <p:cNvSpPr>
            <a:spLocks xmlns:a="http://schemas.openxmlformats.org/drawingml/2006/main" noGrp="1"/>
          </p:cNvSpPr>
          <p:nvPr/>
        </p:nvSpPr>
        <p:spPr>
          <a:xfrm xmlns:a="http://schemas.openxmlformats.org/drawingml/2006/main">
            <a:off x="1123950" y="38100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063D2C"/>
                </a:solidFill>
                <a:latin typeface="Georgia"/>
                <a:ea typeface="Georgia"/>
                <a:cs typeface="Georgia"/>
              </a:defRPr>
            </a:pPr>
            <a:r>
              <a:rPr sz="2100" b="0" i="0">
                <a:solidFill>
                  <a:srgbClr val="063D2C"/>
                </a:solidFill>
                <a:latin typeface="Georgia"/>
                <a:ea typeface="Georgia"/>
                <a:cs typeface="Georgia"/>
              </a:rPr>
              <a:t>liber:Ghost Protocol</a:t>
            </a:r>
          </a:p>
        </p:txBody>
      </p:sp>
      <p:sp>
        <p:nvSpPr>
          <p:cNvPr id="3" name="08">
            <a:extLst xmlns:a="http://schemas.openxmlformats.org/drawingml/2006/main">
              <a:ext uri="{FF2B5EF4-FFF2-40B4-BE49-F238E27FC236}">
                <a16:creationId xmlns:a16="http://schemas.microsoft.com/office/drawing/2014/main" id="{A67B9D1A-38AF-4DA3-97BF-70D481D545D6}"/>
              </a:ext>
            </a:extLst>
          </p:cNvPr>
          <p:cNvSpPr>
            <a:spLocks xmlns:a="http://schemas.openxmlformats.org/drawingml/2006/main" noGrp="1"/>
          </p:cNvSpPr>
          <p:nvPr/>
        </p:nvSpPr>
        <p:spPr>
          <a:xfrm xmlns:a="http://schemas.openxmlformats.org/drawingml/2006/main">
            <a:off x="11049000" y="63436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2635B"/>
                </a:solidFill>
                <a:latin typeface="Arial"/>
                <a:ea typeface="Arial"/>
                <a:cs typeface="Arial"/>
              </a:defRPr>
            </a:pPr>
            <a:r>
              <a:rPr sz="1650" b="0" i="0">
                <a:solidFill>
                  <a:srgbClr val="52635B"/>
                </a:solidFill>
                <a:latin typeface="Arial"/>
                <a:ea typeface="Arial"/>
                <a:cs typeface="Arial"/>
              </a:rPr>
              <a:t>08</a:t>
            </a:r>
          </a:p>
        </p:txBody>
      </p:sp>
      <p:sp>
        <p:nvSpPr>
          <p:cNvPr id="4" name="Built on BNB. Inspectable.">
            <a:extLst xmlns:a="http://schemas.openxmlformats.org/drawingml/2006/main">
              <a:ext uri="{FF2B5EF4-FFF2-40B4-BE49-F238E27FC236}">
                <a16:creationId xmlns:a16="http://schemas.microsoft.com/office/drawing/2014/main" id="{426EEF6A-30F0-46F5-955F-137A9B521966}"/>
              </a:ext>
            </a:extLst>
          </p:cNvPr>
          <p:cNvSpPr>
            <a:spLocks xmlns:a="http://schemas.openxmlformats.org/drawingml/2006/main" noGrp="1"/>
          </p:cNvSpPr>
          <p:nvPr/>
        </p:nvSpPr>
        <p:spPr>
          <a:xfrm xmlns:a="http://schemas.openxmlformats.org/drawingml/2006/main">
            <a:off x="685800" y="12858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75" b="0" i="0">
                <a:solidFill>
                  <a:srgbClr val="101E1A"/>
                </a:solidFill>
                <a:latin typeface="Georgia"/>
                <a:ea typeface="Georgia"/>
                <a:cs typeface="Georgia"/>
              </a:defRPr>
            </a:pPr>
            <a:r>
              <a:rPr sz="4275" b="0" i="0">
                <a:solidFill>
                  <a:srgbClr val="101E1A"/>
                </a:solidFill>
                <a:latin typeface="Georgia"/>
                <a:ea typeface="Georgia"/>
                <a:cs typeface="Georgia"/>
              </a:rPr>
              <a:t>Built on BNB. Inspectable.</a:t>
            </a:r>
          </a:p>
        </p:txBody>
      </p:sp>
      <p:sp>
        <p:nvSpPr>
          <p:cNvPr id="5" name="BROWSER">
            <a:extLst xmlns:a="http://schemas.openxmlformats.org/drawingml/2006/main">
              <a:ext uri="{FF2B5EF4-FFF2-40B4-BE49-F238E27FC236}">
                <a16:creationId xmlns:a16="http://schemas.microsoft.com/office/drawing/2014/main" id="{43448E60-D89E-4E52-9F36-2DA8B602626F}"/>
              </a:ext>
            </a:extLst>
          </p:cNvPr>
          <p:cNvSpPr>
            <a:spLocks xmlns:a="http://schemas.openxmlformats.org/drawingml/2006/main" noGrp="1"/>
          </p:cNvSpPr>
          <p:nvPr/>
        </p:nvSpPr>
        <p:spPr>
          <a:xfrm xmlns:a="http://schemas.openxmlformats.org/drawingml/2006/main">
            <a:off x="733425" y="2809875"/>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B6B4E"/>
                </a:solidFill>
                <a:latin typeface="Arial"/>
                <a:ea typeface="Arial"/>
                <a:cs typeface="Arial"/>
              </a:defRPr>
            </a:pPr>
            <a:r>
              <a:rPr sz="1800" b="1" i="0">
                <a:solidFill>
                  <a:srgbClr val="0B6B4E"/>
                </a:solidFill>
                <a:latin typeface="Arial"/>
                <a:ea typeface="Arial"/>
                <a:cs typeface="Arial"/>
              </a:rPr>
              <a:t>BROWSER</a:t>
            </a:r>
          </a:p>
        </p:txBody>
      </p:sp>
      <p:sp>
        <p:nvSpPr>
          <p:cNvPr id="6" name="Private authorization">
            <a:extLst xmlns:a="http://schemas.openxmlformats.org/drawingml/2006/main">
              <a:ext uri="{FF2B5EF4-FFF2-40B4-BE49-F238E27FC236}">
                <a16:creationId xmlns:a16="http://schemas.microsoft.com/office/drawing/2014/main" id="{F9F91D66-9AB1-4C14-94BA-A7E96467CABF}"/>
              </a:ext>
            </a:extLst>
          </p:cNvPr>
          <p:cNvSpPr>
            <a:spLocks xmlns:a="http://schemas.openxmlformats.org/drawingml/2006/main" noGrp="1"/>
          </p:cNvSpPr>
          <p:nvPr/>
        </p:nvSpPr>
        <p:spPr>
          <a:xfrm xmlns:a="http://schemas.openxmlformats.org/drawingml/2006/main">
            <a:off x="733425" y="3419475"/>
            <a:ext cx="3476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101E1A"/>
                </a:solidFill>
                <a:latin typeface="Arial"/>
                <a:ea typeface="Arial"/>
                <a:cs typeface="Arial"/>
              </a:defRPr>
            </a:pPr>
            <a:r>
              <a:rPr sz="2175" b="0" i="0">
                <a:solidFill>
                  <a:srgbClr val="101E1A"/>
                </a:solidFill>
                <a:latin typeface="Arial"/>
                <a:ea typeface="Arial"/>
                <a:cs typeface="Arial"/>
              </a:rPr>
              <a:t>Private authorization</a:t>
            </a:r>
          </a:p>
          <a:p xmlns:a="http://schemas.openxmlformats.org/drawingml/2006/main">
            <a:pPr algn="l">
              <a:defRPr sz="2175" b="0" i="0">
                <a:solidFill>
                  <a:srgbClr val="101E1A"/>
                </a:solidFill>
                <a:latin typeface="Arial"/>
                <a:ea typeface="Arial"/>
                <a:cs typeface="Arial"/>
              </a:defRPr>
            </a:pPr>
            <a:r>
              <a:rPr sz="2175" b="0" i="0">
                <a:solidFill>
                  <a:srgbClr val="101E1A"/>
                </a:solidFill>
                <a:latin typeface="Arial"/>
                <a:ea typeface="Arial"/>
                <a:cs typeface="Arial"/>
              </a:rPr>
              <a:t>Local handover</a:t>
            </a:r>
          </a:p>
        </p:txBody>
      </p:sp>
      <p:sp>
        <p:nvSpPr>
          <p:cNvPr id="7" name="BSC VAULT">
            <a:extLst xmlns:a="http://schemas.openxmlformats.org/drawingml/2006/main">
              <a:ext uri="{FF2B5EF4-FFF2-40B4-BE49-F238E27FC236}">
                <a16:creationId xmlns:a16="http://schemas.microsoft.com/office/drawing/2014/main" id="{DBD6B239-40BD-4EDB-9B34-B185F26808EC}"/>
              </a:ext>
            </a:extLst>
          </p:cNvPr>
          <p:cNvSpPr>
            <a:spLocks xmlns:a="http://schemas.openxmlformats.org/drawingml/2006/main" noGrp="1"/>
          </p:cNvSpPr>
          <p:nvPr/>
        </p:nvSpPr>
        <p:spPr>
          <a:xfrm xmlns:a="http://schemas.openxmlformats.org/drawingml/2006/main">
            <a:off x="4600575" y="2809875"/>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B6B4E"/>
                </a:solidFill>
                <a:latin typeface="Arial"/>
                <a:ea typeface="Arial"/>
                <a:cs typeface="Arial"/>
              </a:defRPr>
            </a:pPr>
            <a:r>
              <a:rPr sz="1800" b="1" i="0">
                <a:solidFill>
                  <a:srgbClr val="0B6B4E"/>
                </a:solidFill>
                <a:latin typeface="Arial"/>
                <a:ea typeface="Arial"/>
                <a:cs typeface="Arial"/>
              </a:rPr>
              <a:t>BSC VAULT</a:t>
            </a:r>
          </a:p>
        </p:txBody>
      </p:sp>
      <p:sp>
        <p:nvSpPr>
          <p:cNvPr id="8" name="Funds + enforcement">
            <a:extLst xmlns:a="http://schemas.openxmlformats.org/drawingml/2006/main">
              <a:ext uri="{FF2B5EF4-FFF2-40B4-BE49-F238E27FC236}">
                <a16:creationId xmlns:a16="http://schemas.microsoft.com/office/drawing/2014/main" id="{10A237E1-66F8-44A2-8DD8-663F4D4BF1DA}"/>
              </a:ext>
            </a:extLst>
          </p:cNvPr>
          <p:cNvSpPr>
            <a:spLocks xmlns:a="http://schemas.openxmlformats.org/drawingml/2006/main" noGrp="1"/>
          </p:cNvSpPr>
          <p:nvPr/>
        </p:nvSpPr>
        <p:spPr>
          <a:xfrm xmlns:a="http://schemas.openxmlformats.org/drawingml/2006/main">
            <a:off x="4600575" y="3419475"/>
            <a:ext cx="3476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101E1A"/>
                </a:solidFill>
                <a:latin typeface="Arial"/>
                <a:ea typeface="Arial"/>
                <a:cs typeface="Arial"/>
              </a:defRPr>
            </a:pPr>
            <a:r>
              <a:rPr sz="2175" b="0" i="0">
                <a:solidFill>
                  <a:srgbClr val="101E1A"/>
                </a:solidFill>
                <a:latin typeface="Arial"/>
                <a:ea typeface="Arial"/>
                <a:cs typeface="Arial"/>
              </a:rPr>
              <a:t>Funds + enforcement</a:t>
            </a:r>
          </a:p>
          <a:p xmlns:a="http://schemas.openxmlformats.org/drawingml/2006/main">
            <a:pPr algn="l">
              <a:defRPr sz="2175" b="0" i="0">
                <a:solidFill>
                  <a:srgbClr val="101E1A"/>
                </a:solidFill>
                <a:latin typeface="Arial"/>
                <a:ea typeface="Arial"/>
                <a:cs typeface="Arial"/>
              </a:defRPr>
            </a:pPr>
            <a:r>
              <a:rPr sz="2175" b="0" i="0">
                <a:solidFill>
                  <a:srgbClr val="101E1A"/>
                </a:solidFill>
                <a:latin typeface="Arial"/>
                <a:ea typeface="Arial"/>
                <a:cs typeface="Arial"/>
              </a:rPr>
              <a:t>Public events</a:t>
            </a:r>
          </a:p>
        </p:txBody>
      </p:sp>
      <p:sp>
        <p:nvSpPr>
          <p:cNvPr id="9" name="API / DATABASE">
            <a:extLst xmlns:a="http://schemas.openxmlformats.org/drawingml/2006/main">
              <a:ext uri="{FF2B5EF4-FFF2-40B4-BE49-F238E27FC236}">
                <a16:creationId xmlns:a16="http://schemas.microsoft.com/office/drawing/2014/main" id="{21DE26B1-A931-4D26-B91F-DDF4D36168A2}"/>
              </a:ext>
            </a:extLst>
          </p:cNvPr>
          <p:cNvSpPr>
            <a:spLocks xmlns:a="http://schemas.openxmlformats.org/drawingml/2006/main" noGrp="1"/>
          </p:cNvSpPr>
          <p:nvPr/>
        </p:nvSpPr>
        <p:spPr>
          <a:xfrm xmlns:a="http://schemas.openxmlformats.org/drawingml/2006/main">
            <a:off x="8467725" y="2809875"/>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B6B4E"/>
                </a:solidFill>
                <a:latin typeface="Arial"/>
                <a:ea typeface="Arial"/>
                <a:cs typeface="Arial"/>
              </a:defRPr>
            </a:pPr>
            <a:r>
              <a:rPr sz="1800" b="1" i="0">
                <a:solidFill>
                  <a:srgbClr val="0B6B4E"/>
                </a:solidFill>
                <a:latin typeface="Arial"/>
                <a:ea typeface="Arial"/>
                <a:cs typeface="Arial"/>
              </a:rPr>
              <a:t>API / DATABASE</a:t>
            </a:r>
          </a:p>
        </p:txBody>
      </p:sp>
      <p:sp>
        <p:nvSpPr>
          <p:cNvPr id="10" name="Unsigned metadata">
            <a:extLst xmlns:a="http://schemas.openxmlformats.org/drawingml/2006/main">
              <a:ext uri="{FF2B5EF4-FFF2-40B4-BE49-F238E27FC236}">
                <a16:creationId xmlns:a16="http://schemas.microsoft.com/office/drawing/2014/main" id="{0EE48136-93AD-4F2F-8DBD-67B4C535413A}"/>
              </a:ext>
            </a:extLst>
          </p:cNvPr>
          <p:cNvSpPr>
            <a:spLocks xmlns:a="http://schemas.openxmlformats.org/drawingml/2006/main" noGrp="1"/>
          </p:cNvSpPr>
          <p:nvPr/>
        </p:nvSpPr>
        <p:spPr>
          <a:xfrm xmlns:a="http://schemas.openxmlformats.org/drawingml/2006/main">
            <a:off x="8467725" y="3419475"/>
            <a:ext cx="3476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101E1A"/>
                </a:solidFill>
                <a:latin typeface="Arial"/>
                <a:ea typeface="Arial"/>
                <a:cs typeface="Arial"/>
              </a:defRPr>
            </a:pPr>
            <a:r>
              <a:rPr sz="2175" b="0" i="0">
                <a:solidFill>
                  <a:srgbClr val="101E1A"/>
                </a:solidFill>
                <a:latin typeface="Arial"/>
                <a:ea typeface="Arial"/>
                <a:cs typeface="Arial"/>
              </a:rPr>
              <a:t>Unsigned metadata</a:t>
            </a:r>
          </a:p>
          <a:p xmlns:a="http://schemas.openxmlformats.org/drawingml/2006/main">
            <a:pPr algn="l">
              <a:defRPr sz="2175" b="0" i="0">
                <a:solidFill>
                  <a:srgbClr val="101E1A"/>
                </a:solidFill>
                <a:latin typeface="Arial"/>
                <a:ea typeface="Arial"/>
                <a:cs typeface="Arial"/>
              </a:defRPr>
            </a:pPr>
            <a:r>
              <a:rPr sz="2175" b="0" i="0">
                <a:solidFill>
                  <a:srgbClr val="101E1A"/>
                </a:solidFill>
                <a:latin typeface="Arial"/>
                <a:ea typeface="Arial"/>
                <a:cs typeface="Arial"/>
              </a:rPr>
              <a:t>Verified proofs</a:t>
            </a:r>
          </a:p>
        </p:txBody>
      </p:sp>
      <p:sp>
        <p:nvSpPr>
          <p:cNvPr id="11" name="Ghost vault / BSC Testnet (97)">
            <a:extLst xmlns:a="http://schemas.openxmlformats.org/drawingml/2006/main">
              <a:ext uri="{FF2B5EF4-FFF2-40B4-BE49-F238E27FC236}">
                <a16:creationId xmlns:a16="http://schemas.microsoft.com/office/drawing/2014/main" id="{C651506B-F7A6-48EA-9C61-71389EDAE9AE}"/>
              </a:ext>
            </a:extLst>
          </p:cNvPr>
          <p:cNvSpPr>
            <a:spLocks xmlns:a="http://schemas.openxmlformats.org/drawingml/2006/main" noGrp="1"/>
          </p:cNvSpPr>
          <p:nvPr/>
        </p:nvSpPr>
        <p:spPr>
          <a:xfrm xmlns:a="http://schemas.openxmlformats.org/drawingml/2006/main">
            <a:off x="733425" y="49720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0B6B4E"/>
                </a:solidFill>
                <a:latin typeface="Arial"/>
                <a:ea typeface="Arial"/>
                <a:cs typeface="Arial"/>
              </a:defRPr>
            </a:pPr>
            <a:r>
              <a:rPr sz="2100" b="0" i="0">
                <a:solidFill>
                  <a:srgbClr val="0B6B4E"/>
                </a:solidFill>
                <a:latin typeface="Arial"/>
                <a:ea typeface="Arial"/>
                <a:cs typeface="Arial"/>
                <a:hlinkClick xmlns:r="http://schemas.openxmlformats.org/officeDocument/2006/relationships" r:id="Rc5e4cb5544a44e9a"/>
              </a:rPr>
              <a:t>Ghost vault / BSC Testnet (97)</a:t>
            </a:r>
          </a:p>
        </p:txBody>
      </p:sp>
      <p:sp>
        <p:nvSpPr>
          <p:cNvPr id="12" name="0x0837ac35ec54F678ba08912dcfd6166a299FCA31">
            <a:extLst xmlns:a="http://schemas.openxmlformats.org/drawingml/2006/main">
              <a:ext uri="{FF2B5EF4-FFF2-40B4-BE49-F238E27FC236}">
                <a16:creationId xmlns:a16="http://schemas.microsoft.com/office/drawing/2014/main" id="{852A62B1-8C62-497B-9E5B-7AE5DA626150}"/>
              </a:ext>
            </a:extLst>
          </p:cNvPr>
          <p:cNvSpPr>
            <a:spLocks xmlns:a="http://schemas.openxmlformats.org/drawingml/2006/main" noGrp="1"/>
          </p:cNvSpPr>
          <p:nvPr/>
        </p:nvSpPr>
        <p:spPr>
          <a:xfrm xmlns:a="http://schemas.openxmlformats.org/drawingml/2006/main">
            <a:off x="733425" y="55816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101E1A"/>
                </a:solidFill>
                <a:latin typeface="Courier New"/>
                <a:ea typeface="Courier New"/>
                <a:cs typeface="Courier New"/>
              </a:defRPr>
            </a:pPr>
            <a:r>
              <a:rPr sz="1950" b="0" i="0">
                <a:solidFill>
                  <a:srgbClr val="101E1A"/>
                </a:solidFill>
                <a:latin typeface="Courier New"/>
                <a:ea typeface="Courier New"/>
                <a:cs typeface="Courier New"/>
                <a:hlinkClick xmlns:r="http://schemas.openxmlformats.org/officeDocument/2006/relationships" r:id="R8c184c5b5b3048d8"/>
              </a:rPr>
              <a:t>0x0837ac35ec54F678ba08912dcfd6166a299FCA31</a:t>
            </a:r>
          </a:p>
        </p:txBody>
      </p:sp>
      <p:sp>
        <p:nvSpPr>
          <p:cNvPr id="13" name="Exact source match on Sourcify ↗">
            <a:extLst xmlns:a="http://schemas.openxmlformats.org/drawingml/2006/main">
              <a:ext uri="{FF2B5EF4-FFF2-40B4-BE49-F238E27FC236}">
                <a16:creationId xmlns:a16="http://schemas.microsoft.com/office/drawing/2014/main" id="{2DDB9ED3-3107-42F8-881E-12280B1B216D}"/>
              </a:ext>
            </a:extLst>
          </p:cNvPr>
          <p:cNvSpPr>
            <a:spLocks xmlns:a="http://schemas.openxmlformats.org/drawingml/2006/main" noGrp="1"/>
          </p:cNvSpPr>
          <p:nvPr/>
        </p:nvSpPr>
        <p:spPr>
          <a:xfrm xmlns:a="http://schemas.openxmlformats.org/drawingml/2006/main">
            <a:off x="733425" y="6181725"/>
            <a:ext cx="981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52635B"/>
                </a:solidFill>
                <a:latin typeface="Arial"/>
                <a:ea typeface="Arial"/>
                <a:cs typeface="Arial"/>
              </a:defRPr>
            </a:pPr>
            <a:r>
              <a:rPr sz="1800" b="0" i="0">
                <a:solidFill>
                  <a:srgbClr val="52635B"/>
                </a:solidFill>
                <a:latin typeface="Arial"/>
                <a:ea typeface="Arial"/>
                <a:cs typeface="Arial"/>
                <a:hlinkClick xmlns:r="http://schemas.openxmlformats.org/officeDocument/2006/relationships" r:id="R799ed351a05b4441"/>
              </a:rPr>
              <a:t>Exact source match on Sourcify ↗</a:t>
            </a:r>
          </a:p>
        </p:txBody>
      </p:sp>
    </p:spTree>
    <p:extLst>
      <p:ext uri="{BB962C8B-B14F-4D97-AF65-F5344CB8AC3E}">
        <p14:creationId xmlns:p14="http://schemas.microsoft.com/office/powerpoint/2010/main" val="1161837307"/>
      </p:ext>
    </p:extLst>
  </p:cSld>
</p:sld>
</file>

<file path=ppt/slides/slide9.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e57eb15aef94800"/>
          <a:stretch xmlns:a="http://schemas.openxmlformats.org/drawingml/2006/main"/>
        </p:blipFill>
        <p:spPr>
          <a:xfrm xmlns:a="http://schemas.openxmlformats.org/drawingml/2006/main">
            <a:off x="619125" y="342900"/>
            <a:ext cx="361950" cy="361950"/>
          </a:xfrm>
          <a:prstGeom xmlns:a="http://schemas.openxmlformats.org/drawingml/2006/main" prst="rect">
            <a:avLst/>
          </a:prstGeom>
        </p:spPr>
      </p:pic>
      <p:sp>
        <p:nvSpPr>
          <p:cNvPr id="2" name="liber:Ghost Protocol">
            <a:extLst xmlns:a="http://schemas.openxmlformats.org/drawingml/2006/main">
              <a:ext uri="{FF2B5EF4-FFF2-40B4-BE49-F238E27FC236}">
                <a16:creationId xmlns:a16="http://schemas.microsoft.com/office/drawing/2014/main" id="{76479B5E-AED9-4BD2-AA9A-C825A067D87B}"/>
              </a:ext>
            </a:extLst>
          </p:cNvPr>
          <p:cNvSpPr>
            <a:spLocks xmlns:a="http://schemas.openxmlformats.org/drawingml/2006/main" noGrp="1"/>
          </p:cNvSpPr>
          <p:nvPr/>
        </p:nvSpPr>
        <p:spPr>
          <a:xfrm xmlns:a="http://schemas.openxmlformats.org/drawingml/2006/main">
            <a:off x="1123950" y="38100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063D2C"/>
                </a:solidFill>
                <a:latin typeface="Georgia"/>
                <a:ea typeface="Georgia"/>
                <a:cs typeface="Georgia"/>
              </a:defRPr>
            </a:pPr>
            <a:r>
              <a:rPr sz="2100" b="0" i="0">
                <a:solidFill>
                  <a:srgbClr val="063D2C"/>
                </a:solidFill>
                <a:latin typeface="Georgia"/>
                <a:ea typeface="Georgia"/>
                <a:cs typeface="Georgia"/>
              </a:rPr>
              <a:t>liber:Ghost Protocol</a:t>
            </a:r>
          </a:p>
        </p:txBody>
      </p:sp>
      <p:sp>
        <p:nvSpPr>
          <p:cNvPr id="3" name="09">
            <a:extLst xmlns:a="http://schemas.openxmlformats.org/drawingml/2006/main">
              <a:ext uri="{FF2B5EF4-FFF2-40B4-BE49-F238E27FC236}">
                <a16:creationId xmlns:a16="http://schemas.microsoft.com/office/drawing/2014/main" id="{EEEB7BA5-B84A-49A3-94D9-3F7BEBD44F01}"/>
              </a:ext>
            </a:extLst>
          </p:cNvPr>
          <p:cNvSpPr>
            <a:spLocks xmlns:a="http://schemas.openxmlformats.org/drawingml/2006/main" noGrp="1"/>
          </p:cNvSpPr>
          <p:nvPr/>
        </p:nvSpPr>
        <p:spPr>
          <a:xfrm xmlns:a="http://schemas.openxmlformats.org/drawingml/2006/main">
            <a:off x="11049000" y="63436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2635B"/>
                </a:solidFill>
                <a:latin typeface="Arial"/>
                <a:ea typeface="Arial"/>
                <a:cs typeface="Arial"/>
              </a:defRPr>
            </a:pPr>
            <a:r>
              <a:rPr sz="1650" b="0" i="0">
                <a:solidFill>
                  <a:srgbClr val="52635B"/>
                </a:solidFill>
                <a:latin typeface="Arial"/>
                <a:ea typeface="Arial"/>
                <a:cs typeface="Arial"/>
              </a:rPr>
              <a:t>09</a:t>
            </a:r>
          </a:p>
        </p:txBody>
      </p:sp>
      <p:sp>
        <p:nvSpPr>
          <p:cNvPr id="4" name="Start small. Learn something real.">
            <a:extLst xmlns:a="http://schemas.openxmlformats.org/drawingml/2006/main">
              <a:ext uri="{FF2B5EF4-FFF2-40B4-BE49-F238E27FC236}">
                <a16:creationId xmlns:a16="http://schemas.microsoft.com/office/drawing/2014/main" id="{EC9D1AF5-CC0D-4EA2-BA69-3D490882921D}"/>
              </a:ext>
            </a:extLst>
          </p:cNvPr>
          <p:cNvSpPr>
            <a:spLocks xmlns:a="http://schemas.openxmlformats.org/drawingml/2006/main" noGrp="1"/>
          </p:cNvSpPr>
          <p:nvPr/>
        </p:nvSpPr>
        <p:spPr>
          <a:xfrm xmlns:a="http://schemas.openxmlformats.org/drawingml/2006/main">
            <a:off x="704850" y="1285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0" i="0">
                <a:solidFill>
                  <a:srgbClr val="101E1A"/>
                </a:solidFill>
                <a:latin typeface="Georgia"/>
                <a:ea typeface="Georgia"/>
                <a:cs typeface="Georgia"/>
              </a:defRPr>
            </a:pPr>
            <a:r>
              <a:rPr sz="3975" b="0" i="0">
                <a:solidFill>
                  <a:srgbClr val="101E1A"/>
                </a:solidFill>
                <a:latin typeface="Georgia"/>
                <a:ea typeface="Georgia"/>
                <a:cs typeface="Georgia"/>
              </a:rPr>
              <a:t>Start small. Learn something real.</a:t>
            </a:r>
          </a:p>
        </p:txBody>
      </p:sp>
      <p:sp>
        <p:nvSpPr>
          <p:cNvPr id="5" name="A prearranged event merchant pilot.">
            <a:extLst xmlns:a="http://schemas.openxmlformats.org/drawingml/2006/main">
              <a:ext uri="{FF2B5EF4-FFF2-40B4-BE49-F238E27FC236}">
                <a16:creationId xmlns:a16="http://schemas.microsoft.com/office/drawing/2014/main" id="{467403A7-A5D3-41CD-871E-F7ED987C57D9}"/>
              </a:ext>
            </a:extLst>
          </p:cNvPr>
          <p:cNvSpPr>
            <a:spLocks xmlns:a="http://schemas.openxmlformats.org/drawingml/2006/main" noGrp="1"/>
          </p:cNvSpPr>
          <p:nvPr/>
        </p:nvSpPr>
        <p:spPr>
          <a:xfrm xmlns:a="http://schemas.openxmlformats.org/drawingml/2006/main">
            <a:off x="742950" y="258127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0B6B4E"/>
                </a:solidFill>
                <a:latin typeface="Arial"/>
                <a:ea typeface="Arial"/>
                <a:cs typeface="Arial"/>
              </a:defRPr>
            </a:pPr>
            <a:r>
              <a:rPr sz="2850" b="1" i="0">
                <a:solidFill>
                  <a:srgbClr val="0B6B4E"/>
                </a:solidFill>
                <a:latin typeface="Arial"/>
                <a:ea typeface="Arial"/>
                <a:cs typeface="Arial"/>
              </a:rPr>
              <a:t>A prearranged event merchant pilot.</a:t>
            </a:r>
          </a:p>
        </p:txBody>
      </p:sp>
      <p:sp>
        <p:nvSpPr>
          <p:cNvPr id="6" name="Measure preparation friction and scanning.">
            <a:extLst xmlns:a="http://schemas.openxmlformats.org/drawingml/2006/main">
              <a:ext uri="{FF2B5EF4-FFF2-40B4-BE49-F238E27FC236}">
                <a16:creationId xmlns:a16="http://schemas.microsoft.com/office/drawing/2014/main" id="{7BD40339-838F-49D2-8D26-2CBC566273B6}"/>
              </a:ext>
            </a:extLst>
          </p:cNvPr>
          <p:cNvSpPr>
            <a:spLocks xmlns:a="http://schemas.openxmlformats.org/drawingml/2006/main" noGrp="1"/>
          </p:cNvSpPr>
          <p:nvPr/>
        </p:nvSpPr>
        <p:spPr>
          <a:xfrm xmlns:a="http://schemas.openxmlformats.org/drawingml/2006/main">
            <a:off x="742950" y="3638550"/>
            <a:ext cx="10382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i="0">
                <a:solidFill>
                  <a:srgbClr val="101E1A"/>
                </a:solidFill>
                <a:latin typeface="Arial"/>
                <a:ea typeface="Arial"/>
                <a:cs typeface="Arial"/>
              </a:defRPr>
            </a:pPr>
            <a:r>
              <a:rPr sz="2325" b="0" i="0">
                <a:solidFill>
                  <a:srgbClr val="101E1A"/>
                </a:solidFill>
                <a:latin typeface="Arial"/>
                <a:ea typeface="Arial"/>
                <a:cs typeface="Arial"/>
              </a:rPr>
              <a:t>Measure preparation friction and scanning.</a:t>
            </a:r>
          </a:p>
          <a:p xmlns:a="http://schemas.openxmlformats.org/drawingml/2006/main">
            <a:pPr algn="l">
              <a:defRPr sz="2325" b="0" i="0">
                <a:solidFill>
                  <a:srgbClr val="101E1A"/>
                </a:solidFill>
                <a:latin typeface="Arial"/>
                <a:ea typeface="Arial"/>
                <a:cs typeface="Arial"/>
              </a:defRPr>
            </a:pPr>
            <a:r>
              <a:rPr sz="2325" b="0" i="0">
                <a:solidFill>
                  <a:srgbClr val="101E1A"/>
                </a:solidFill>
                <a:latin typeface="Arial"/>
                <a:ea typeface="Arial"/>
                <a:cs typeface="Arial"/>
              </a:rPr>
              <a:t>Test the buyer’s whole device being off.</a:t>
            </a:r>
          </a:p>
          <a:p xmlns:a="http://schemas.openxmlformats.org/drawingml/2006/main">
            <a:pPr algn="l">
              <a:defRPr sz="2325" b="0" i="0">
                <a:solidFill>
                  <a:srgbClr val="101E1A"/>
                </a:solidFill>
                <a:latin typeface="Arial"/>
                <a:ea typeface="Arial"/>
                <a:cs typeface="Arial"/>
              </a:defRPr>
            </a:pPr>
            <a:r>
              <a:rPr sz="2325" b="0" i="0">
                <a:solidFill>
                  <a:srgbClr val="101E1A"/>
                </a:solidFill>
                <a:latin typeface="Arial"/>
                <a:ea typeface="Arial"/>
                <a:cs typeface="Arial"/>
              </a:rPr>
              <a:t>Review security before real value.</a:t>
            </a:r>
          </a:p>
        </p:txBody>
      </p:sp>
      <p:sp>
        <p:nvSpPr>
          <p:cNvPr id="7" name="Proposed pilot / physical and printed-paper tests pending">
            <a:extLst xmlns:a="http://schemas.openxmlformats.org/drawingml/2006/main">
              <a:ext uri="{FF2B5EF4-FFF2-40B4-BE49-F238E27FC236}">
                <a16:creationId xmlns:a16="http://schemas.microsoft.com/office/drawing/2014/main" id="{6267565A-BA4C-4407-B669-D74DE4F2FBA7}"/>
              </a:ext>
            </a:extLst>
          </p:cNvPr>
          <p:cNvSpPr>
            <a:spLocks xmlns:a="http://schemas.openxmlformats.org/drawingml/2006/main" noGrp="1"/>
          </p:cNvSpPr>
          <p:nvPr/>
        </p:nvSpPr>
        <p:spPr>
          <a:xfrm xmlns:a="http://schemas.openxmlformats.org/drawingml/2006/main">
            <a:off x="742950" y="60864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52635B"/>
                </a:solidFill>
                <a:latin typeface="Arial"/>
                <a:ea typeface="Arial"/>
                <a:cs typeface="Arial"/>
              </a:defRPr>
            </a:pPr>
            <a:r>
              <a:rPr sz="1800" b="0" i="0">
                <a:solidFill>
                  <a:srgbClr val="52635B"/>
                </a:solidFill>
                <a:latin typeface="Arial"/>
                <a:ea typeface="Arial"/>
                <a:cs typeface="Arial"/>
              </a:rPr>
              <a:t>Proposed pilot / physical and printed-paper tests pending</a:t>
            </a:r>
          </a:p>
        </p:txBody>
      </p:sp>
    </p:spTree>
    <p:extLst>
      <p:ext uri="{BB962C8B-B14F-4D97-AF65-F5344CB8AC3E}">
        <p14:creationId xmlns:p14="http://schemas.microsoft.com/office/powerpoint/2010/main" val="1279138827"/>
      </p:ext>
    </p:extLst>
  </p:cSld>
</p:sld>
</file>

<file path=ppt/slides/slide10.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7c83601ed26463b"/>
          <a:stretch xmlns:a="http://schemas.openxmlformats.org/drawingml/2006/main"/>
        </p:blipFill>
        <p:spPr>
          <a:xfrm xmlns:a="http://schemas.openxmlformats.org/drawingml/2006/main">
            <a:off x="619125" y="342900"/>
            <a:ext cx="361950" cy="361950"/>
          </a:xfrm>
          <a:prstGeom xmlns:a="http://schemas.openxmlformats.org/drawingml/2006/main" prst="rect">
            <a:avLst/>
          </a:prstGeom>
        </p:spPr>
      </p:pic>
      <p:sp>
        <p:nvSpPr>
          <p:cNvPr id="2" name="liber:Ghost Protocol">
            <a:extLst xmlns:a="http://schemas.openxmlformats.org/drawingml/2006/main">
              <a:ext uri="{FF2B5EF4-FFF2-40B4-BE49-F238E27FC236}">
                <a16:creationId xmlns:a16="http://schemas.microsoft.com/office/drawing/2014/main" id="{EBA9C7EE-C7F6-44E7-92BE-A4D809C35A8C}"/>
              </a:ext>
            </a:extLst>
          </p:cNvPr>
          <p:cNvSpPr>
            <a:spLocks xmlns:a="http://schemas.openxmlformats.org/drawingml/2006/main" noGrp="1"/>
          </p:cNvSpPr>
          <p:nvPr/>
        </p:nvSpPr>
        <p:spPr>
          <a:xfrm xmlns:a="http://schemas.openxmlformats.org/drawingml/2006/main">
            <a:off x="1123950" y="38100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063D2C"/>
                </a:solidFill>
                <a:latin typeface="Georgia"/>
                <a:ea typeface="Georgia"/>
                <a:cs typeface="Georgia"/>
              </a:defRPr>
            </a:pPr>
            <a:r>
              <a:rPr sz="2100" b="0" i="0">
                <a:solidFill>
                  <a:srgbClr val="063D2C"/>
                </a:solidFill>
                <a:latin typeface="Georgia"/>
                <a:ea typeface="Georgia"/>
                <a:cs typeface="Georgia"/>
              </a:rPr>
              <a:t>liber:Ghost Protocol</a:t>
            </a:r>
          </a:p>
        </p:txBody>
      </p:sp>
      <p:sp>
        <p:nvSpPr>
          <p:cNvPr id="3" name="10">
            <a:extLst xmlns:a="http://schemas.openxmlformats.org/drawingml/2006/main">
              <a:ext uri="{FF2B5EF4-FFF2-40B4-BE49-F238E27FC236}">
                <a16:creationId xmlns:a16="http://schemas.microsoft.com/office/drawing/2014/main" id="{3AC4DA00-2F3A-404E-9617-884DD016E267}"/>
              </a:ext>
            </a:extLst>
          </p:cNvPr>
          <p:cNvSpPr>
            <a:spLocks xmlns:a="http://schemas.openxmlformats.org/drawingml/2006/main" noGrp="1"/>
          </p:cNvSpPr>
          <p:nvPr/>
        </p:nvSpPr>
        <p:spPr>
          <a:xfrm xmlns:a="http://schemas.openxmlformats.org/drawingml/2006/main">
            <a:off x="11049000" y="6343650"/>
            <a:ext cx="71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i="0">
                <a:solidFill>
                  <a:srgbClr val="52635B"/>
                </a:solidFill>
                <a:latin typeface="Arial"/>
                <a:ea typeface="Arial"/>
                <a:cs typeface="Arial"/>
              </a:defRPr>
            </a:pPr>
            <a:r>
              <a:rPr sz="1650" b="0" i="0">
                <a:solidFill>
                  <a:srgbClr val="52635B"/>
                </a:solidFill>
                <a:latin typeface="Arial"/>
                <a:ea typeface="Arial"/>
                <a:cs typeface="Arial"/>
              </a:rPr>
              <a:t>10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b78118d05a84f23"/>
          <a:stretch xmlns:a="http://schemas.openxmlformats.org/drawingml/2006/main"/>
        </p:blipFill>
        <p:spPr>
          <a:xfrm xmlns:a="http://schemas.openxmlformats.org/drawingml/2006/main">
            <a:off x="600075" y="1600200"/>
            <a:ext cx="4381500" cy="4381500"/>
          </a:xfrm>
          <a:prstGeom xmlns:a="http://schemas.openxmlformats.org/drawingml/2006/main" prst="rect">
            <a:avLst/>
          </a:prstGeom>
        </p:spPr>
      </p:pic>
      <p:sp>
        <p:nvSpPr>
          <p:cNvPr id="5" name="Your battery gets a break.">
            <a:extLst xmlns:a="http://schemas.openxmlformats.org/drawingml/2006/main">
              <a:ext uri="{FF2B5EF4-FFF2-40B4-BE49-F238E27FC236}">
                <a16:creationId xmlns:a16="http://schemas.microsoft.com/office/drawing/2014/main" id="{04ED11F5-0CDE-4416-99BC-D864E370BBFC}"/>
              </a:ext>
            </a:extLst>
          </p:cNvPr>
          <p:cNvSpPr>
            <a:spLocks xmlns:a="http://schemas.openxmlformats.org/drawingml/2006/main" noGrp="1"/>
          </p:cNvSpPr>
          <p:nvPr/>
        </p:nvSpPr>
        <p:spPr>
          <a:xfrm xmlns:a="http://schemas.openxmlformats.org/drawingml/2006/main">
            <a:off x="5495925" y="1485900"/>
            <a:ext cx="619125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i="0">
                <a:solidFill>
                  <a:srgbClr val="063D2C"/>
                </a:solidFill>
                <a:latin typeface="Georgia"/>
                <a:ea typeface="Georgia"/>
                <a:cs typeface="Georgia"/>
              </a:defRPr>
            </a:pPr>
            <a:r>
              <a:rPr sz="3600" b="0" i="0">
                <a:solidFill>
                  <a:srgbClr val="063D2C"/>
                </a:solidFill>
                <a:latin typeface="Georgia"/>
                <a:ea typeface="Georgia"/>
                <a:cs typeface="Georgia"/>
              </a:rPr>
              <a:t>Your battery gets a break.</a:t>
            </a:r>
          </a:p>
          <a:p xmlns:a="http://schemas.openxmlformats.org/drawingml/2006/main">
            <a:pPr algn="l">
              <a:defRPr sz="3600" b="0" i="0">
                <a:solidFill>
                  <a:srgbClr val="063D2C"/>
                </a:solidFill>
                <a:latin typeface="Georgia"/>
                <a:ea typeface="Georgia"/>
                <a:cs typeface="Georgia"/>
              </a:defRPr>
            </a:pPr>
            <a:r>
              <a:rPr sz="3600" b="0" i="0">
                <a:solidFill>
                  <a:srgbClr val="063D2C"/>
                </a:solidFill>
                <a:latin typeface="Georgia"/>
                <a:ea typeface="Georgia"/>
                <a:cs typeface="Georgia"/>
              </a:rPr>
              <a:t>Your permission keeps</a:t>
            </a:r>
          </a:p>
          <a:p xmlns:a="http://schemas.openxmlformats.org/drawingml/2006/main">
            <a:pPr algn="l">
              <a:defRPr sz="3600" b="0" i="0">
                <a:solidFill>
                  <a:srgbClr val="063D2C"/>
                </a:solidFill>
                <a:latin typeface="Georgia"/>
                <a:ea typeface="Georgia"/>
                <a:cs typeface="Georgia"/>
              </a:defRPr>
            </a:pPr>
            <a:r>
              <a:rPr sz="3600" b="0" i="0">
                <a:solidFill>
                  <a:srgbClr val="063D2C"/>
                </a:solidFill>
                <a:latin typeface="Georgia"/>
                <a:ea typeface="Georgia"/>
                <a:cs typeface="Georgia"/>
              </a:rPr>
              <a:t>its limits.</a:t>
            </a:r>
          </a:p>
        </p:txBody>
      </p:sp>
      <p:sp>
        <p:nvSpPr>
          <p:cNvPr id="6" name="Explore Ghost ↗">
            <a:extLst xmlns:a="http://schemas.openxmlformats.org/drawingml/2006/main">
              <a:ext uri="{FF2B5EF4-FFF2-40B4-BE49-F238E27FC236}">
                <a16:creationId xmlns:a16="http://schemas.microsoft.com/office/drawing/2014/main" id="{8AA52EE2-E88D-4438-B765-9E68F17068DA}"/>
              </a:ext>
            </a:extLst>
          </p:cNvPr>
          <p:cNvSpPr>
            <a:spLocks xmlns:a="http://schemas.openxmlformats.org/drawingml/2006/main" noGrp="1"/>
          </p:cNvSpPr>
          <p:nvPr/>
        </p:nvSpPr>
        <p:spPr>
          <a:xfrm xmlns:a="http://schemas.openxmlformats.org/drawingml/2006/main">
            <a:off x="5534025" y="430530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i="0">
                <a:solidFill>
                  <a:srgbClr val="0B6B4E"/>
                </a:solidFill>
                <a:latin typeface="Arial"/>
                <a:ea typeface="Arial"/>
                <a:cs typeface="Arial"/>
              </a:defRPr>
            </a:pPr>
            <a:r>
              <a:rPr sz="2550" b="1" i="0">
                <a:solidFill>
                  <a:srgbClr val="0B6B4E"/>
                </a:solidFill>
                <a:latin typeface="Arial"/>
                <a:ea typeface="Arial"/>
                <a:cs typeface="Arial"/>
                <a:hlinkClick xmlns:r="http://schemas.openxmlformats.org/officeDocument/2006/relationships" r:id="Rc8dfc53f52db4387"/>
              </a:rPr>
              <a:t>Explore Ghost ↗</a:t>
            </a:r>
          </a:p>
        </p:txBody>
      </p:sp>
      <p:sp>
        <p:nvSpPr>
          <p:cNvPr id="7" name="Public code &amp; evidence ↗">
            <a:extLst xmlns:a="http://schemas.openxmlformats.org/drawingml/2006/main">
              <a:ext uri="{FF2B5EF4-FFF2-40B4-BE49-F238E27FC236}">
                <a16:creationId xmlns:a16="http://schemas.microsoft.com/office/drawing/2014/main" id="{AA794F71-0572-498A-A00F-407DBDCBF3A4}"/>
              </a:ext>
            </a:extLst>
          </p:cNvPr>
          <p:cNvSpPr>
            <a:spLocks xmlns:a="http://schemas.openxmlformats.org/drawingml/2006/main" noGrp="1"/>
          </p:cNvSpPr>
          <p:nvPr/>
        </p:nvSpPr>
        <p:spPr>
          <a:xfrm xmlns:a="http://schemas.openxmlformats.org/drawingml/2006/main">
            <a:off x="5534025" y="5067300"/>
            <a:ext cx="5524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i="0">
                <a:solidFill>
                  <a:srgbClr val="0B6B4E"/>
                </a:solidFill>
                <a:latin typeface="Arial"/>
                <a:ea typeface="Arial"/>
                <a:cs typeface="Arial"/>
              </a:defRPr>
            </a:pPr>
            <a:r>
              <a:rPr sz="2100" b="0" i="0">
                <a:solidFill>
                  <a:srgbClr val="0B6B4E"/>
                </a:solidFill>
                <a:latin typeface="Arial"/>
                <a:ea typeface="Arial"/>
                <a:cs typeface="Arial"/>
                <a:hlinkClick xmlns:r="http://schemas.openxmlformats.org/officeDocument/2006/relationships" r:id="R7b9692aa5da046ee"/>
              </a:rPr>
              <a:t>Public code &amp; evidence ↗</a:t>
            </a:r>
          </a:p>
        </p:txBody>
      </p:sp>
      <p:sp>
        <p:nvSpPr>
          <p:cNvPr id="8" name="BSC Testnet / MockUSDC / No cash value">
            <a:extLst xmlns:a="http://schemas.openxmlformats.org/drawingml/2006/main">
              <a:ext uri="{FF2B5EF4-FFF2-40B4-BE49-F238E27FC236}">
                <a16:creationId xmlns:a16="http://schemas.microsoft.com/office/drawing/2014/main" id="{EBD040A4-9883-4D5B-858E-8A8D4C48D37F}"/>
              </a:ext>
            </a:extLst>
          </p:cNvPr>
          <p:cNvSpPr>
            <a:spLocks xmlns:a="http://schemas.openxmlformats.org/drawingml/2006/main" noGrp="1"/>
          </p:cNvSpPr>
          <p:nvPr/>
        </p:nvSpPr>
        <p:spPr>
          <a:xfrm xmlns:a="http://schemas.openxmlformats.org/drawingml/2006/main">
            <a:off x="5524500" y="6096000"/>
            <a:ext cx="619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i="0">
                <a:solidFill>
                  <a:srgbClr val="52635B"/>
                </a:solidFill>
                <a:latin typeface="Arial"/>
                <a:ea typeface="Arial"/>
                <a:cs typeface="Arial"/>
              </a:defRPr>
            </a:pPr>
            <a:r>
              <a:rPr sz="1725" b="0" i="0">
                <a:solidFill>
                  <a:srgbClr val="52635B"/>
                </a:solidFill>
                <a:latin typeface="Arial"/>
                <a:ea typeface="Arial"/>
                <a:cs typeface="Arial"/>
              </a:rPr>
              <a:t>BSC Testnet / MockUSDC / No cash value</a:t>
            </a:r>
          </a:p>
        </p:txBody>
      </p:sp>
    </p:spTree>
    <p:extLst>
      <p:ext uri="{BB962C8B-B14F-4D97-AF65-F5344CB8AC3E}">
        <p14:creationId xmlns:p14="http://schemas.microsoft.com/office/powerpoint/2010/main" val="2682805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2026-10-02T13:46:05.7360000Z</dcterms:created>
  <dcterms:modified xsi:type="dcterms:W3CDTF">2026-10-02T13:46:05.7360000Z</dcterms:modified>
</coreProperties>
</file>